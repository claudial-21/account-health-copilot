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53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50534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Golden Master: Cover. customerName + period dynamic; approved mountain hero is a fixed brand asset.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Golden Master: Adoption. Donut + bar chart with data-chart targets, stat cards, interpretation + next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Golden Master: Commitments table. commitmentItems[] repeat with owner/dueDate/status.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Golden Master: Roadmap. nextQuarterWorkstreams[] with month-column timeline pills.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KPI cards, then FACT/INTERPRETATION/RECOMMENDATION panels, then Customer Commitment strip. Recommendation stays visually distinct from an agreed commitment.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Value KPI strip, then objectives/outcomes. Business impact shown as KPI cards, not bullets.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Flexible priority list; items-to-align and opportunities panels below.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Network-motif pillar band, then context/renewal/next-steps, then closing statement.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Previous interventions, sources, supporting metrics.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svg"/><Relationship Id="rId10" Type="http://schemas.openxmlformats.org/officeDocument/2006/relationships/image" Target="../media/image16.png"/><Relationship Id="rId4" Type="http://schemas.openxmlformats.org/officeDocument/2006/relationships/image" Target="../media/image10.svg"/><Relationship Id="rId9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2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10" Type="http://schemas.openxmlformats.org/officeDocument/2006/relationships/image" Target="../media/image33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svg"/><Relationship Id="rId3" Type="http://schemas.openxmlformats.org/officeDocument/2006/relationships/image" Target="../media/image2.png"/><Relationship Id="rId7" Type="http://schemas.openxmlformats.org/officeDocument/2006/relationships/image" Target="../media/image37.png"/><Relationship Id="rId12" Type="http://schemas.openxmlformats.org/officeDocument/2006/relationships/image" Target="../media/image42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11" Type="http://schemas.openxmlformats.org/officeDocument/2006/relationships/image" Target="../media/image41.svg"/><Relationship Id="rId5" Type="http://schemas.openxmlformats.org/officeDocument/2006/relationships/image" Target="../media/image35.png"/><Relationship Id="rId10" Type="http://schemas.openxmlformats.org/officeDocument/2006/relationships/image" Target="../media/image40.svg"/><Relationship Id="rId4" Type="http://schemas.openxmlformats.org/officeDocument/2006/relationships/image" Target="../media/image34.png"/><Relationship Id="rId9" Type="http://schemas.openxmlformats.org/officeDocument/2006/relationships/image" Target="../media/image39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2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Relationship Id="rId9" Type="http://schemas.openxmlformats.org/officeDocument/2006/relationships/image" Target="../media/image4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2.png"/><Relationship Id="rId7" Type="http://schemas.openxmlformats.org/officeDocument/2006/relationships/image" Target="../media/image52.png"/><Relationship Id="rId12" Type="http://schemas.openxmlformats.org/officeDocument/2006/relationships/image" Target="../media/image5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.png"/><Relationship Id="rId11" Type="http://schemas.openxmlformats.org/officeDocument/2006/relationships/image" Target="../media/image56.svg"/><Relationship Id="rId5" Type="http://schemas.openxmlformats.org/officeDocument/2006/relationships/image" Target="../media/image50.png"/><Relationship Id="rId10" Type="http://schemas.openxmlformats.org/officeDocument/2006/relationships/image" Target="../media/image55.png"/><Relationship Id="rId4" Type="http://schemas.openxmlformats.org/officeDocument/2006/relationships/image" Target="../media/image49.svg"/><Relationship Id="rId9" Type="http://schemas.openxmlformats.org/officeDocument/2006/relationships/image" Target="../media/image5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image" Target="../media/image2.png"/><Relationship Id="rId7" Type="http://schemas.openxmlformats.org/officeDocument/2006/relationships/image" Target="../media/image6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10" Type="http://schemas.openxmlformats.org/officeDocument/2006/relationships/image" Target="../media/image64.png"/><Relationship Id="rId4" Type="http://schemas.openxmlformats.org/officeDocument/2006/relationships/image" Target="../media/image58.png"/><Relationship Id="rId9" Type="http://schemas.openxmlformats.org/officeDocument/2006/relationships/image" Target="../media/image6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t="27" b="27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85750" y="447675"/>
            <a:ext cx="5238750" cy="1650653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09600" y="2857500"/>
            <a:ext cx="9429750" cy="2580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6250"/>
              </a:lnSpc>
              <a:buNone/>
            </a:pPr>
            <a:r>
              <a:rPr lang="en-US" sz="1238" b="1" kern="0" spc="62" dirty="0">
                <a:solidFill>
                  <a:srgbClr val="007F8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CUSTOMER SUCCESS AI | HUB</a:t>
            </a:r>
            <a:endParaRPr lang="en-US" sz="1238" dirty="0"/>
          </a:p>
        </p:txBody>
      </p:sp>
      <p:sp>
        <p:nvSpPr>
          <p:cNvPr id="5" name="Text 1"/>
          <p:cNvSpPr/>
          <p:nvPr/>
        </p:nvSpPr>
        <p:spPr>
          <a:xfrm>
            <a:off x="609600" y="3210818"/>
            <a:ext cx="9429750" cy="771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0208"/>
              </a:lnSpc>
              <a:buNone/>
            </a:pPr>
            <a:r>
              <a:rPr lang="en-US" sz="5250" b="1" kern="0" spc="-52" dirty="0">
                <a:solidFill>
                  <a:srgbClr val="2533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Quarterly Business Review</a:t>
            </a:r>
            <a:endParaRPr lang="en-US" sz="5250" dirty="0"/>
          </a:p>
        </p:txBody>
      </p:sp>
      <p:sp>
        <p:nvSpPr>
          <p:cNvPr id="6" name="Text 2"/>
          <p:cNvSpPr/>
          <p:nvPr/>
        </p:nvSpPr>
        <p:spPr>
          <a:xfrm>
            <a:off x="609600" y="4153793"/>
            <a:ext cx="942975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7273"/>
              </a:lnSpc>
              <a:buNone/>
            </a:pPr>
            <a:r>
              <a:rPr lang="en-US" sz="3000" b="1" dirty="0">
                <a:solidFill>
                  <a:srgbClr val="007F8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Q3 2026</a:t>
            </a:r>
            <a:endParaRPr lang="en-US" sz="3000" dirty="0"/>
          </a:p>
        </p:txBody>
      </p:sp>
      <p:sp>
        <p:nvSpPr>
          <p:cNvPr id="7" name="Text 3"/>
          <p:cNvSpPr/>
          <p:nvPr/>
        </p:nvSpPr>
        <p:spPr>
          <a:xfrm>
            <a:off x="609600" y="4706243"/>
            <a:ext cx="942975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4146"/>
              </a:lnSpc>
              <a:buNone/>
            </a:pPr>
            <a:r>
              <a:rPr lang="en-US" sz="4500" b="1" dirty="0">
                <a:solidFill>
                  <a:srgbClr val="007F8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Alpenbank AG</a:t>
            </a:r>
            <a:endParaRPr lang="en-US" sz="4500" dirty="0"/>
          </a:p>
        </p:txBody>
      </p:sp>
      <p:sp>
        <p:nvSpPr>
          <p:cNvPr id="8" name="Text 4"/>
          <p:cNvSpPr/>
          <p:nvPr/>
        </p:nvSpPr>
        <p:spPr>
          <a:xfrm>
            <a:off x="609600" y="5592068"/>
            <a:ext cx="942975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313" b="1" kern="0" spc="66" dirty="0">
                <a:solidFill>
                  <a:srgbClr val="25333A">
                    <a:alpha val="34000"/>
                  </a:srgbClr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AS OF AUG 31, 2026</a:t>
            </a:r>
            <a:endParaRPr lang="en-US" sz="1313" dirty="0"/>
          </a:p>
        </p:txBody>
      </p:sp>
      <p:sp>
        <p:nvSpPr>
          <p:cNvPr id="9" name="Shape 5"/>
          <p:cNvSpPr/>
          <p:nvPr/>
        </p:nvSpPr>
        <p:spPr>
          <a:xfrm>
            <a:off x="609600" y="6054030"/>
            <a:ext cx="533400" cy="28575"/>
          </a:xfrm>
          <a:prstGeom prst="rect">
            <a:avLst/>
          </a:prstGeom>
          <a:solidFill>
            <a:srgbClr val="25333A">
              <a:alpha val="50000"/>
            </a:srgb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0" name="Text 6"/>
          <p:cNvSpPr/>
          <p:nvPr/>
        </p:nvSpPr>
        <p:spPr>
          <a:xfrm>
            <a:off x="609600" y="6311205"/>
            <a:ext cx="5494020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405"/>
              </a:lnSpc>
              <a:buNone/>
            </a:pPr>
            <a:r>
              <a:rPr lang="en-US" sz="1950" dirty="0">
                <a:solidFill>
                  <a:srgbClr val="25333A">
                    <a:alpha val="55000"/>
                  </a:srgbClr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customer-facing review of outcomes, progress, opportunities, and next steps.</a:t>
            </a:r>
            <a:endParaRPr lang="en-US" sz="1950" dirty="0"/>
          </a:p>
        </p:txBody>
      </p:sp>
      <p:sp>
        <p:nvSpPr>
          <p:cNvPr id="11" name="Text 7"/>
          <p:cNvSpPr/>
          <p:nvPr/>
        </p:nvSpPr>
        <p:spPr>
          <a:xfrm>
            <a:off x="609600" y="7416105"/>
            <a:ext cx="9429750" cy="3113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966"/>
              </a:lnSpc>
              <a:buNone/>
            </a:pPr>
            <a:r>
              <a:rPr lang="en-US" sz="1538" dirty="0">
                <a:solidFill>
                  <a:srgbClr val="25333A">
                    <a:alpha val="50000"/>
                  </a:srgbClr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Prepared by Customer Success AI | Hub</a:t>
            </a:r>
            <a:endParaRPr lang="en-US" sz="1538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825" y="457200"/>
            <a:ext cx="2143125" cy="67523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76550" y="586680"/>
            <a:ext cx="5492829" cy="4542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4038"/>
              </a:lnSpc>
              <a:buNone/>
            </a:pPr>
            <a:r>
              <a:rPr lang="en-US" sz="2850" b="1" kern="0" spc="-29" dirty="0">
                <a:solidFill>
                  <a:srgbClr val="2533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Health &amp; Performance Trends</a:t>
            </a:r>
            <a:endParaRPr lang="en-US" sz="2850" dirty="0"/>
          </a:p>
        </p:txBody>
      </p:sp>
      <p:sp>
        <p:nvSpPr>
          <p:cNvPr id="4" name="Text 1"/>
          <p:cNvSpPr/>
          <p:nvPr/>
        </p:nvSpPr>
        <p:spPr>
          <a:xfrm>
            <a:off x="2495550" y="1208633"/>
            <a:ext cx="16449675" cy="2981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7500"/>
              </a:lnSpc>
              <a:buNone/>
            </a:pPr>
            <a:r>
              <a:rPr lang="en-US" sz="1463" dirty="0">
                <a:solidFill>
                  <a:srgbClr val="25333A">
                    <a:alpha val="55000"/>
                  </a:srgbClr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Executive summary of account health over the last 6 months.</a:t>
            </a:r>
            <a:endParaRPr lang="en-US" sz="1463" dirty="0"/>
          </a:p>
        </p:txBody>
      </p:sp>
      <p:sp>
        <p:nvSpPr>
          <p:cNvPr id="5" name="Shape 2"/>
          <p:cNvSpPr/>
          <p:nvPr/>
        </p:nvSpPr>
        <p:spPr>
          <a:xfrm>
            <a:off x="838200" y="1697236"/>
            <a:ext cx="5410200" cy="1438275"/>
          </a:xfrm>
          <a:prstGeom prst="roundRect">
            <a:avLst>
              <a:gd name="adj" fmla="val 9272"/>
            </a:avLst>
          </a:prstGeom>
          <a:solidFill>
            <a:srgbClr val="A9E5D3">
              <a:alpha val="33000"/>
            </a:srgbClr>
          </a:solidFill>
          <a:ln w="9525">
            <a:solidFill>
              <a:srgbClr val="007F83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Shape 3"/>
          <p:cNvSpPr/>
          <p:nvPr/>
        </p:nvSpPr>
        <p:spPr>
          <a:xfrm>
            <a:off x="1076325" y="1897261"/>
            <a:ext cx="1038225" cy="1038225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6325" y="1897261"/>
            <a:ext cx="1038225" cy="1038225"/>
          </a:xfrm>
          <a:prstGeom prst="ellipse">
            <a:avLst/>
          </a:prstGeom>
        </p:spPr>
      </p:pic>
      <p:sp>
        <p:nvSpPr>
          <p:cNvPr id="8" name="Text 4"/>
          <p:cNvSpPr/>
          <p:nvPr/>
        </p:nvSpPr>
        <p:spPr>
          <a:xfrm>
            <a:off x="2324100" y="2050405"/>
            <a:ext cx="1952908" cy="2671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500"/>
              </a:lnSpc>
              <a:buNone/>
            </a:pPr>
            <a:r>
              <a:rPr lang="en-US" sz="1388" b="1" dirty="0">
                <a:solidFill>
                  <a:srgbClr val="2533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Current Health Score</a:t>
            </a:r>
            <a:endParaRPr lang="en-US" sz="1388" dirty="0"/>
          </a:p>
        </p:txBody>
      </p:sp>
      <p:sp>
        <p:nvSpPr>
          <p:cNvPr id="9" name="Text 5"/>
          <p:cNvSpPr/>
          <p:nvPr/>
        </p:nvSpPr>
        <p:spPr>
          <a:xfrm>
            <a:off x="2324100" y="2279452"/>
            <a:ext cx="1952908" cy="54099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300" b="1" kern="0" spc="-33" dirty="0">
                <a:solidFill>
                  <a:srgbClr val="007F8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58</a:t>
            </a:r>
            <a:r>
              <a:rPr lang="en-US" sz="1500" kern="0" spc="-33" dirty="0">
                <a:solidFill>
                  <a:srgbClr val="25333A">
                    <a:alpha val="50000"/>
                  </a:srgbClr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of 100</a:t>
            </a:r>
            <a:endParaRPr lang="en-US" sz="3300" dirty="0"/>
          </a:p>
        </p:txBody>
      </p:sp>
      <p:sp>
        <p:nvSpPr>
          <p:cNvPr id="10" name="Shape 6"/>
          <p:cNvSpPr/>
          <p:nvPr/>
        </p:nvSpPr>
        <p:spPr>
          <a:xfrm>
            <a:off x="6438900" y="1697236"/>
            <a:ext cx="5410200" cy="1438275"/>
          </a:xfrm>
          <a:prstGeom prst="roundRect">
            <a:avLst>
              <a:gd name="adj" fmla="val 9272"/>
            </a:avLst>
          </a:prstGeom>
          <a:solidFill>
            <a:srgbClr val="226FBD">
              <a:alpha val="16000"/>
            </a:srgbClr>
          </a:solidFill>
          <a:ln w="9525">
            <a:solidFill>
              <a:srgbClr val="226FBD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Shape 7"/>
          <p:cNvSpPr/>
          <p:nvPr/>
        </p:nvSpPr>
        <p:spPr>
          <a:xfrm>
            <a:off x="6677025" y="1897261"/>
            <a:ext cx="1038225" cy="1038225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7025" y="1897261"/>
            <a:ext cx="1038225" cy="1038225"/>
          </a:xfrm>
          <a:prstGeom prst="ellipse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924800" y="1942058"/>
            <a:ext cx="1419865" cy="2671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500"/>
              </a:lnSpc>
              <a:buNone/>
            </a:pPr>
            <a:r>
              <a:rPr lang="en-US" sz="1388" b="1" dirty="0">
                <a:solidFill>
                  <a:srgbClr val="2533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Adoption Trend</a:t>
            </a:r>
            <a:endParaRPr lang="en-US" sz="1388" dirty="0"/>
          </a:p>
        </p:txBody>
      </p:sp>
      <p:sp>
        <p:nvSpPr>
          <p:cNvPr id="14" name="Text 9"/>
          <p:cNvSpPr/>
          <p:nvPr/>
        </p:nvSpPr>
        <p:spPr>
          <a:xfrm>
            <a:off x="7924800" y="2171105"/>
            <a:ext cx="1419865" cy="54099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300" b="1" kern="0" spc="-33" dirty="0">
                <a:solidFill>
                  <a:srgbClr val="226FB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+8</a:t>
            </a:r>
            <a:r>
              <a:rPr lang="en-US" sz="1500" b="1" kern="0" spc="-33" dirty="0">
                <a:solidFill>
                  <a:srgbClr val="25333A">
                    <a:alpha val="50000"/>
                  </a:srgbClr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pts</a:t>
            </a:r>
            <a:endParaRPr lang="en-US" sz="3300" dirty="0"/>
          </a:p>
        </p:txBody>
      </p:sp>
      <p:sp>
        <p:nvSpPr>
          <p:cNvPr id="15" name="Text 10"/>
          <p:cNvSpPr/>
          <p:nvPr/>
        </p:nvSpPr>
        <p:spPr>
          <a:xfrm>
            <a:off x="7924800" y="2673995"/>
            <a:ext cx="1419865" cy="2547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1000"/>
              </a:lnSpc>
              <a:buNone/>
            </a:pPr>
            <a:r>
              <a:rPr lang="en-US" sz="1313" dirty="0">
                <a:solidFill>
                  <a:srgbClr val="25333A">
                    <a:alpha val="50000"/>
                  </a:srgbClr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vs last 6 months</a:t>
            </a:r>
            <a:endParaRPr lang="en-US" sz="1313" dirty="0"/>
          </a:p>
        </p:txBody>
      </p:sp>
      <p:sp>
        <p:nvSpPr>
          <p:cNvPr id="16" name="Shape 11"/>
          <p:cNvSpPr/>
          <p:nvPr/>
        </p:nvSpPr>
        <p:spPr>
          <a:xfrm>
            <a:off x="12039600" y="1697236"/>
            <a:ext cx="5410200" cy="1438275"/>
          </a:xfrm>
          <a:prstGeom prst="roundRect">
            <a:avLst>
              <a:gd name="adj" fmla="val 9272"/>
            </a:avLst>
          </a:prstGeom>
          <a:solidFill>
            <a:srgbClr val="7462A6">
              <a:alpha val="16000"/>
            </a:srgbClr>
          </a:solidFill>
          <a:ln w="9525">
            <a:solidFill>
              <a:srgbClr val="7462A6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Shape 12"/>
          <p:cNvSpPr/>
          <p:nvPr/>
        </p:nvSpPr>
        <p:spPr>
          <a:xfrm>
            <a:off x="12277725" y="1897261"/>
            <a:ext cx="1038225" cy="1038225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77725" y="1897261"/>
            <a:ext cx="1038225" cy="1038225"/>
          </a:xfrm>
          <a:prstGeom prst="ellipse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3525500" y="1942058"/>
            <a:ext cx="1218009" cy="2671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500"/>
              </a:lnSpc>
              <a:buNone/>
            </a:pPr>
            <a:r>
              <a:rPr lang="en-US" sz="1388" b="1" dirty="0">
                <a:solidFill>
                  <a:srgbClr val="2533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Items to Align</a:t>
            </a:r>
            <a:endParaRPr lang="en-US" sz="1388" dirty="0"/>
          </a:p>
        </p:txBody>
      </p:sp>
      <p:sp>
        <p:nvSpPr>
          <p:cNvPr id="20" name="Text 14"/>
          <p:cNvSpPr/>
          <p:nvPr/>
        </p:nvSpPr>
        <p:spPr>
          <a:xfrm>
            <a:off x="13525500" y="2133005"/>
            <a:ext cx="315813" cy="6096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300" b="1" kern="0" spc="-33" dirty="0">
                <a:solidFill>
                  <a:srgbClr val="7462A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</a:t>
            </a:r>
            <a:endParaRPr lang="en-US" sz="3300" dirty="0"/>
          </a:p>
        </p:txBody>
      </p:sp>
      <p:sp>
        <p:nvSpPr>
          <p:cNvPr id="21" name="Text 15"/>
          <p:cNvSpPr/>
          <p:nvPr/>
        </p:nvSpPr>
        <p:spPr>
          <a:xfrm>
            <a:off x="13525500" y="2673995"/>
            <a:ext cx="1218009" cy="2547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1000"/>
              </a:lnSpc>
              <a:buNone/>
            </a:pPr>
            <a:r>
              <a:rPr lang="en-US" sz="1313" dirty="0">
                <a:solidFill>
                  <a:srgbClr val="25333A">
                    <a:alpha val="50000"/>
                  </a:srgbClr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High priority</a:t>
            </a:r>
            <a:endParaRPr lang="en-US" sz="1313" dirty="0"/>
          </a:p>
        </p:txBody>
      </p:sp>
      <p:sp>
        <p:nvSpPr>
          <p:cNvPr id="22" name="Shape 16"/>
          <p:cNvSpPr/>
          <p:nvPr/>
        </p:nvSpPr>
        <p:spPr>
          <a:xfrm>
            <a:off x="838200" y="3345061"/>
            <a:ext cx="8210550" cy="3625602"/>
          </a:xfrm>
          <a:prstGeom prst="roundRect">
            <a:avLst>
              <a:gd name="adj" fmla="val 3678"/>
            </a:avLst>
          </a:prstGeom>
          <a:solidFill>
            <a:srgbClr val="FFFFFF"/>
          </a:solidFill>
          <a:ln w="9525">
            <a:solidFill>
              <a:srgbClr val="25333A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3" name="Text 17"/>
          <p:cNvSpPr/>
          <p:nvPr/>
        </p:nvSpPr>
        <p:spPr>
          <a:xfrm>
            <a:off x="1114425" y="3564136"/>
            <a:ext cx="8423910" cy="2918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179"/>
              </a:lnSpc>
              <a:buNone/>
            </a:pPr>
            <a:r>
              <a:rPr lang="en-US" sz="1538" b="1" dirty="0">
                <a:solidFill>
                  <a:srgbClr val="2533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Health Score Trend (Last 6 Months)</a:t>
            </a:r>
            <a:endParaRPr lang="en-US" sz="1538" dirty="0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14425" y="3932188"/>
            <a:ext cx="7658100" cy="2762250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9239250" y="3345061"/>
            <a:ext cx="8210550" cy="3625602"/>
          </a:xfrm>
          <a:prstGeom prst="roundRect">
            <a:avLst>
              <a:gd name="adj" fmla="val 3678"/>
            </a:avLst>
          </a:prstGeom>
          <a:solidFill>
            <a:srgbClr val="FFFFFF"/>
          </a:solidFill>
          <a:ln w="9525">
            <a:solidFill>
              <a:srgbClr val="25333A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6" name="Text 19"/>
          <p:cNvSpPr/>
          <p:nvPr/>
        </p:nvSpPr>
        <p:spPr>
          <a:xfrm>
            <a:off x="9515475" y="3564136"/>
            <a:ext cx="8423910" cy="2918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179"/>
              </a:lnSpc>
              <a:buNone/>
            </a:pPr>
            <a:r>
              <a:rPr lang="en-US" sz="1538" b="1" dirty="0">
                <a:solidFill>
                  <a:srgbClr val="2533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Adoption Trend (Point Change / Month)</a:t>
            </a:r>
            <a:endParaRPr lang="en-US" sz="1538" dirty="0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515475" y="3932188"/>
            <a:ext cx="7658100" cy="2762250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838200" y="7180213"/>
            <a:ext cx="8210550" cy="2594372"/>
          </a:xfrm>
          <a:prstGeom prst="roundRect">
            <a:avLst>
              <a:gd name="adj" fmla="val 5140"/>
            </a:avLst>
          </a:prstGeom>
          <a:solidFill>
            <a:srgbClr val="FFFFFF"/>
          </a:solidFill>
          <a:ln w="9525">
            <a:solidFill>
              <a:srgbClr val="25333A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9" name="Shape 21"/>
          <p:cNvSpPr/>
          <p:nvPr/>
        </p:nvSpPr>
        <p:spPr>
          <a:xfrm>
            <a:off x="1095375" y="7399288"/>
            <a:ext cx="676275" cy="676275"/>
          </a:xfrm>
          <a:prstGeom prst="ellipse">
            <a:avLst/>
          </a:prstGeom>
          <a:solidFill>
            <a:srgbClr val="007F83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5375" y="7399288"/>
            <a:ext cx="676275" cy="676275"/>
          </a:xfrm>
          <a:prstGeom prst="ellipse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1866900" y="7622828"/>
            <a:ext cx="1687369" cy="2671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500"/>
              </a:lnSpc>
              <a:buNone/>
            </a:pPr>
            <a:r>
              <a:rPr lang="en-US" sz="1388" b="1" kern="0" spc="42" dirty="0">
                <a:solidFill>
                  <a:srgbClr val="007F8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INTERPRETATION</a:t>
            </a:r>
            <a:endParaRPr lang="en-US" sz="1388" dirty="0"/>
          </a:p>
        </p:txBody>
      </p:sp>
      <p:sp>
        <p:nvSpPr>
          <p:cNvPr id="32" name="Shape 23"/>
          <p:cNvSpPr/>
          <p:nvPr/>
        </p:nvSpPr>
        <p:spPr>
          <a:xfrm>
            <a:off x="1095375" y="8170813"/>
            <a:ext cx="1143000" cy="19050"/>
          </a:xfrm>
          <a:prstGeom prst="rect">
            <a:avLst/>
          </a:prstGeom>
          <a:solidFill>
            <a:srgbClr val="007F83">
              <a:alpha val="33000"/>
            </a:srgb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3" name="Shape 24"/>
          <p:cNvSpPr/>
          <p:nvPr/>
        </p:nvSpPr>
        <p:spPr>
          <a:xfrm>
            <a:off x="1095375" y="8418463"/>
            <a:ext cx="47625" cy="47625"/>
          </a:xfrm>
          <a:prstGeom prst="ellipse">
            <a:avLst/>
          </a:prstGeom>
          <a:solidFill>
            <a:srgbClr val="007F8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4" name="Text 25"/>
          <p:cNvSpPr/>
          <p:nvPr/>
        </p:nvSpPr>
        <p:spPr>
          <a:xfrm>
            <a:off x="1247775" y="8304163"/>
            <a:ext cx="454728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8942"/>
              </a:lnSpc>
              <a:buNone/>
            </a:pPr>
            <a:r>
              <a:rPr lang="en-US" sz="1388" dirty="0">
                <a:solidFill>
                  <a:srgbClr val="25333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Health score improved +8 points compared to 6 months ago.</a:t>
            </a:r>
            <a:endParaRPr lang="en-US" sz="1388" dirty="0"/>
          </a:p>
        </p:txBody>
      </p:sp>
      <p:sp>
        <p:nvSpPr>
          <p:cNvPr id="35" name="Shape 26"/>
          <p:cNvSpPr/>
          <p:nvPr/>
        </p:nvSpPr>
        <p:spPr>
          <a:xfrm>
            <a:off x="1095375" y="8924479"/>
            <a:ext cx="47625" cy="47625"/>
          </a:xfrm>
          <a:prstGeom prst="ellipse">
            <a:avLst/>
          </a:prstGeom>
          <a:solidFill>
            <a:srgbClr val="007F8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6" name="Text 27"/>
          <p:cNvSpPr/>
          <p:nvPr/>
        </p:nvSpPr>
        <p:spPr>
          <a:xfrm>
            <a:off x="1247775" y="8810179"/>
            <a:ext cx="517931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8942"/>
              </a:lnSpc>
              <a:buNone/>
            </a:pPr>
            <a:r>
              <a:rPr lang="en-US" sz="1388" dirty="0">
                <a:solidFill>
                  <a:srgbClr val="25333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Steady upward trend driven by increased adoption and engagement.</a:t>
            </a:r>
            <a:endParaRPr lang="en-US" sz="1388" dirty="0"/>
          </a:p>
        </p:txBody>
      </p:sp>
      <p:sp>
        <p:nvSpPr>
          <p:cNvPr id="37" name="Shape 28"/>
          <p:cNvSpPr/>
          <p:nvPr/>
        </p:nvSpPr>
        <p:spPr>
          <a:xfrm>
            <a:off x="1095375" y="9430494"/>
            <a:ext cx="47625" cy="47625"/>
          </a:xfrm>
          <a:prstGeom prst="ellipse">
            <a:avLst/>
          </a:prstGeom>
          <a:solidFill>
            <a:srgbClr val="007F8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8" name="Text 29"/>
          <p:cNvSpPr/>
          <p:nvPr/>
        </p:nvSpPr>
        <p:spPr>
          <a:xfrm>
            <a:off x="1247775" y="9316194"/>
            <a:ext cx="46539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8942"/>
              </a:lnSpc>
              <a:buNone/>
            </a:pPr>
            <a:r>
              <a:rPr lang="en-US" sz="1388" dirty="0">
                <a:solidFill>
                  <a:srgbClr val="25333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Score reflects a strong foundation with room for optimization.</a:t>
            </a:r>
            <a:endParaRPr lang="en-US" sz="1388" dirty="0"/>
          </a:p>
        </p:txBody>
      </p:sp>
      <p:sp>
        <p:nvSpPr>
          <p:cNvPr id="39" name="Shape 30"/>
          <p:cNvSpPr/>
          <p:nvPr/>
        </p:nvSpPr>
        <p:spPr>
          <a:xfrm>
            <a:off x="9239250" y="7180213"/>
            <a:ext cx="8210550" cy="2594372"/>
          </a:xfrm>
          <a:prstGeom prst="roundRect">
            <a:avLst>
              <a:gd name="adj" fmla="val 5140"/>
            </a:avLst>
          </a:prstGeom>
          <a:solidFill>
            <a:srgbClr val="7462A6">
              <a:alpha val="13000"/>
            </a:srgbClr>
          </a:solidFill>
          <a:ln w="9525">
            <a:solidFill>
              <a:srgbClr val="25333A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0" name="Shape 31"/>
          <p:cNvSpPr/>
          <p:nvPr/>
        </p:nvSpPr>
        <p:spPr>
          <a:xfrm>
            <a:off x="9496425" y="7399288"/>
            <a:ext cx="676275" cy="676275"/>
          </a:xfrm>
          <a:prstGeom prst="ellipse">
            <a:avLst/>
          </a:prstGeom>
          <a:solidFill>
            <a:srgbClr val="7462A6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41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96425" y="7399288"/>
            <a:ext cx="676275" cy="676275"/>
          </a:xfrm>
          <a:prstGeom prst="ellipse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10267950" y="7622828"/>
            <a:ext cx="2261667" cy="2671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500"/>
              </a:lnSpc>
              <a:buNone/>
            </a:pPr>
            <a:r>
              <a:rPr lang="en-US" sz="1388" b="1" kern="0" spc="42" dirty="0">
                <a:solidFill>
                  <a:srgbClr val="7462A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AREAS FOR ATTENTION</a:t>
            </a:r>
            <a:endParaRPr lang="en-US" sz="1388" dirty="0"/>
          </a:p>
        </p:txBody>
      </p:sp>
      <p:sp>
        <p:nvSpPr>
          <p:cNvPr id="43" name="Shape 33"/>
          <p:cNvSpPr/>
          <p:nvPr/>
        </p:nvSpPr>
        <p:spPr>
          <a:xfrm>
            <a:off x="9496425" y="8170813"/>
            <a:ext cx="1428750" cy="19050"/>
          </a:xfrm>
          <a:prstGeom prst="rect">
            <a:avLst/>
          </a:prstGeom>
          <a:solidFill>
            <a:srgbClr val="7462A6">
              <a:alpha val="33000"/>
            </a:srgb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4" name="Shape 34"/>
          <p:cNvSpPr/>
          <p:nvPr/>
        </p:nvSpPr>
        <p:spPr>
          <a:xfrm>
            <a:off x="9496425" y="8418463"/>
            <a:ext cx="47625" cy="47625"/>
          </a:xfrm>
          <a:prstGeom prst="ellipse">
            <a:avLst/>
          </a:prstGeom>
          <a:solidFill>
            <a:srgbClr val="7462A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5" name="Text 35"/>
          <p:cNvSpPr/>
          <p:nvPr/>
        </p:nvSpPr>
        <p:spPr>
          <a:xfrm>
            <a:off x="9648825" y="8304163"/>
            <a:ext cx="315461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8942"/>
              </a:lnSpc>
              <a:buNone/>
            </a:pPr>
            <a:r>
              <a:rPr lang="en-US" sz="1388" dirty="0">
                <a:solidFill>
                  <a:srgbClr val="25333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Three high-priority items need alignment.</a:t>
            </a:r>
            <a:endParaRPr lang="en-US" sz="1388" dirty="0"/>
          </a:p>
        </p:txBody>
      </p:sp>
      <p:sp>
        <p:nvSpPr>
          <p:cNvPr id="46" name="Shape 36"/>
          <p:cNvSpPr/>
          <p:nvPr/>
        </p:nvSpPr>
        <p:spPr>
          <a:xfrm>
            <a:off x="9496425" y="8924479"/>
            <a:ext cx="47625" cy="47625"/>
          </a:xfrm>
          <a:prstGeom prst="ellipse">
            <a:avLst/>
          </a:prstGeom>
          <a:solidFill>
            <a:srgbClr val="7462A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7" name="Text 37"/>
          <p:cNvSpPr/>
          <p:nvPr/>
        </p:nvSpPr>
        <p:spPr>
          <a:xfrm>
            <a:off x="9648825" y="8810179"/>
            <a:ext cx="438295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8942"/>
              </a:lnSpc>
              <a:buNone/>
            </a:pPr>
            <a:r>
              <a:rPr lang="en-US" sz="1388" dirty="0">
                <a:solidFill>
                  <a:srgbClr val="25333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Opportunity to deepen feature adoption in key workflows.</a:t>
            </a:r>
            <a:endParaRPr lang="en-US" sz="1388" dirty="0"/>
          </a:p>
        </p:txBody>
      </p:sp>
      <p:sp>
        <p:nvSpPr>
          <p:cNvPr id="48" name="Shape 38"/>
          <p:cNvSpPr/>
          <p:nvPr/>
        </p:nvSpPr>
        <p:spPr>
          <a:xfrm>
            <a:off x="9496425" y="9430494"/>
            <a:ext cx="47625" cy="47625"/>
          </a:xfrm>
          <a:prstGeom prst="ellipse">
            <a:avLst/>
          </a:prstGeom>
          <a:solidFill>
            <a:srgbClr val="7462A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9" name="Text 39"/>
          <p:cNvSpPr/>
          <p:nvPr/>
        </p:nvSpPr>
        <p:spPr>
          <a:xfrm>
            <a:off x="9648825" y="9316194"/>
            <a:ext cx="386620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8942"/>
              </a:lnSpc>
              <a:buNone/>
            </a:pPr>
            <a:r>
              <a:rPr lang="en-US" sz="1388" dirty="0">
                <a:solidFill>
                  <a:srgbClr val="25333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Addressing these will unlock the next level of value.</a:t>
            </a:r>
            <a:endParaRPr lang="en-US" sz="1388" dirty="0"/>
          </a:p>
        </p:txBody>
      </p:sp>
      <p:sp>
        <p:nvSpPr>
          <p:cNvPr id="50" name="Text 40"/>
          <p:cNvSpPr/>
          <p:nvPr/>
        </p:nvSpPr>
        <p:spPr>
          <a:xfrm>
            <a:off x="838200" y="9795570"/>
            <a:ext cx="5366445" cy="224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050" b="1" kern="0" spc="52" dirty="0">
                <a:solidFill>
                  <a:srgbClr val="25333A">
                    <a:alpha val="34000"/>
                  </a:srgbClr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SOURCE: CUSTOMER SUCCESS AI | HUB PLATFORM | DATA AS OF MAY 31, 2026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825" y="457200"/>
            <a:ext cx="2143125" cy="67523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76550" y="586680"/>
            <a:ext cx="4570318" cy="4542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4038"/>
              </a:lnSpc>
              <a:buNone/>
            </a:pPr>
            <a:r>
              <a:rPr lang="en-US" sz="2850" b="1" kern="0" spc="-29" dirty="0">
                <a:solidFill>
                  <a:srgbClr val="2533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Adoption &amp; Engagement</a:t>
            </a:r>
            <a:endParaRPr lang="en-US" sz="2850" dirty="0"/>
          </a:p>
        </p:txBody>
      </p:sp>
      <p:sp>
        <p:nvSpPr>
          <p:cNvPr id="4" name="Text 1"/>
          <p:cNvSpPr/>
          <p:nvPr/>
        </p:nvSpPr>
        <p:spPr>
          <a:xfrm>
            <a:off x="2495550" y="1208633"/>
            <a:ext cx="16449675" cy="2981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7500"/>
              </a:lnSpc>
              <a:buNone/>
            </a:pPr>
            <a:r>
              <a:rPr lang="en-US" sz="1463" dirty="0">
                <a:solidFill>
                  <a:srgbClr val="25333A">
                    <a:alpha val="55000"/>
                  </a:srgbClr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Overview of adoption and engagement performance.</a:t>
            </a:r>
            <a:endParaRPr lang="en-US" sz="1463" dirty="0"/>
          </a:p>
        </p:txBody>
      </p:sp>
      <p:sp>
        <p:nvSpPr>
          <p:cNvPr id="5" name="Shape 2"/>
          <p:cNvSpPr/>
          <p:nvPr/>
        </p:nvSpPr>
        <p:spPr>
          <a:xfrm>
            <a:off x="838200" y="1697236"/>
            <a:ext cx="7139583" cy="3429000"/>
          </a:xfrm>
          <a:prstGeom prst="roundRect">
            <a:avLst>
              <a:gd name="adj" fmla="val 3889"/>
            </a:avLst>
          </a:prstGeom>
          <a:solidFill>
            <a:srgbClr val="FFFFFF"/>
          </a:solidFill>
          <a:ln w="9525">
            <a:solidFill>
              <a:srgbClr val="25333A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3"/>
          <p:cNvSpPr/>
          <p:nvPr/>
        </p:nvSpPr>
        <p:spPr>
          <a:xfrm>
            <a:off x="1095375" y="1916311"/>
            <a:ext cx="7287756" cy="2918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179"/>
              </a:lnSpc>
              <a:buNone/>
            </a:pPr>
            <a:r>
              <a:rPr lang="en-US" sz="1538" b="1" dirty="0">
                <a:solidFill>
                  <a:srgbClr val="2533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Active Adoption (Overall)</a:t>
            </a:r>
            <a:endParaRPr lang="en-US" sz="1538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80705" y="2738438"/>
            <a:ext cx="1714500" cy="17145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742855" y="3390305"/>
            <a:ext cx="95250" cy="95250"/>
          </a:xfrm>
          <a:prstGeom prst="ellipse">
            <a:avLst/>
          </a:prstGeom>
          <a:solidFill>
            <a:srgbClr val="007F8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" name="Text 5"/>
          <p:cNvSpPr/>
          <p:nvPr/>
        </p:nvSpPr>
        <p:spPr>
          <a:xfrm>
            <a:off x="5066705" y="3327797"/>
            <a:ext cx="925637" cy="2583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8942"/>
              </a:lnSpc>
              <a:buNone/>
            </a:pPr>
            <a:r>
              <a:rPr lang="en-US" sz="1388" b="1" dirty="0">
                <a:solidFill>
                  <a:srgbClr val="25333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78% Active</a:t>
            </a:r>
            <a:endParaRPr lang="en-US" sz="1388" dirty="0"/>
          </a:p>
        </p:txBody>
      </p:sp>
      <p:sp>
        <p:nvSpPr>
          <p:cNvPr id="10" name="Shape 6"/>
          <p:cNvSpPr/>
          <p:nvPr/>
        </p:nvSpPr>
        <p:spPr>
          <a:xfrm>
            <a:off x="4742855" y="3705820"/>
            <a:ext cx="95250" cy="95250"/>
          </a:xfrm>
          <a:prstGeom prst="ellipse">
            <a:avLst/>
          </a:prstGeom>
          <a:solidFill>
            <a:srgbClr val="25333A">
              <a:alpha val="15000"/>
            </a:srgb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1" name="Text 7"/>
          <p:cNvSpPr/>
          <p:nvPr/>
        </p:nvSpPr>
        <p:spPr>
          <a:xfrm>
            <a:off x="5066705" y="3643313"/>
            <a:ext cx="1080671" cy="2583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8942"/>
              </a:lnSpc>
              <a:buNone/>
            </a:pPr>
            <a:r>
              <a:rPr lang="en-US" sz="1388" b="1" dirty="0">
                <a:solidFill>
                  <a:srgbClr val="25333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22% Inactive</a:t>
            </a:r>
            <a:endParaRPr lang="en-US" sz="1388" dirty="0"/>
          </a:p>
        </p:txBody>
      </p:sp>
      <p:sp>
        <p:nvSpPr>
          <p:cNvPr id="12" name="Shape 8"/>
          <p:cNvSpPr/>
          <p:nvPr/>
        </p:nvSpPr>
        <p:spPr>
          <a:xfrm>
            <a:off x="8168283" y="1697236"/>
            <a:ext cx="9281517" cy="3429000"/>
          </a:xfrm>
          <a:prstGeom prst="roundRect">
            <a:avLst>
              <a:gd name="adj" fmla="val 3889"/>
            </a:avLst>
          </a:prstGeom>
          <a:solidFill>
            <a:srgbClr val="FFFFFF"/>
          </a:solidFill>
          <a:ln w="9525">
            <a:solidFill>
              <a:srgbClr val="25333A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9"/>
          <p:cNvSpPr/>
          <p:nvPr/>
        </p:nvSpPr>
        <p:spPr>
          <a:xfrm>
            <a:off x="8425458" y="1916311"/>
            <a:ext cx="9643884" cy="2918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179"/>
              </a:lnSpc>
              <a:buNone/>
            </a:pPr>
            <a:r>
              <a:rPr lang="en-US" sz="1538" b="1" dirty="0">
                <a:solidFill>
                  <a:srgbClr val="2533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Engagement Trend (Active Users)</a:t>
            </a:r>
            <a:endParaRPr lang="en-US" sz="1538" dirty="0"/>
          </a:p>
        </p:txBody>
      </p:sp>
      <p:sp>
        <p:nvSpPr>
          <p:cNvPr id="14" name="Text 10"/>
          <p:cNvSpPr/>
          <p:nvPr/>
        </p:nvSpPr>
        <p:spPr>
          <a:xfrm>
            <a:off x="8425458" y="2208163"/>
            <a:ext cx="9643884" cy="224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050" b="1" kern="0" spc="52" dirty="0">
                <a:solidFill>
                  <a:srgbClr val="25333A">
                    <a:alpha val="34000"/>
                  </a:srgbClr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ACTIVE USERS</a:t>
            </a:r>
            <a:endParaRPr lang="en-US" sz="105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25458" y="2470993"/>
            <a:ext cx="8767167" cy="2436168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838200" y="5316736"/>
            <a:ext cx="5410200" cy="1276350"/>
          </a:xfrm>
          <a:prstGeom prst="roundRect">
            <a:avLst>
              <a:gd name="adj" fmla="val 10448"/>
            </a:avLst>
          </a:prstGeom>
          <a:solidFill>
            <a:srgbClr val="A9E5D3">
              <a:alpha val="33000"/>
            </a:srgbClr>
          </a:solidFill>
          <a:ln w="9525">
            <a:solidFill>
              <a:srgbClr val="007F83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Shape 12"/>
          <p:cNvSpPr/>
          <p:nvPr/>
        </p:nvSpPr>
        <p:spPr>
          <a:xfrm>
            <a:off x="1057275" y="5497711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7275" y="5497711"/>
            <a:ext cx="914400" cy="914400"/>
          </a:xfrm>
          <a:prstGeom prst="ellipse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2162175" y="5543848"/>
            <a:ext cx="1975336" cy="2547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4792"/>
              </a:lnSpc>
              <a:buNone/>
            </a:pPr>
            <a:r>
              <a:rPr lang="en-US" sz="1313" b="1" dirty="0">
                <a:solidFill>
                  <a:srgbClr val="2533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Active Users (Current)</a:t>
            </a:r>
            <a:endParaRPr lang="en-US" sz="1313" dirty="0"/>
          </a:p>
        </p:txBody>
      </p:sp>
      <p:sp>
        <p:nvSpPr>
          <p:cNvPr id="20" name="Text 14"/>
          <p:cNvSpPr/>
          <p:nvPr/>
        </p:nvSpPr>
        <p:spPr>
          <a:xfrm>
            <a:off x="2162175" y="5731966"/>
            <a:ext cx="670768" cy="4762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696"/>
              </a:lnSpc>
              <a:buNone/>
            </a:pPr>
            <a:r>
              <a:rPr lang="en-US" sz="2550" b="1" kern="0" spc="-25" dirty="0">
                <a:solidFill>
                  <a:srgbClr val="007F8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950</a:t>
            </a:r>
            <a:endParaRPr lang="en-US" sz="2550" dirty="0"/>
          </a:p>
        </p:txBody>
      </p:sp>
      <p:sp>
        <p:nvSpPr>
          <p:cNvPr id="21" name="Text 15"/>
          <p:cNvSpPr/>
          <p:nvPr/>
        </p:nvSpPr>
        <p:spPr>
          <a:xfrm>
            <a:off x="2162175" y="6149132"/>
            <a:ext cx="1975336" cy="2547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1000"/>
              </a:lnSpc>
              <a:buNone/>
            </a:pPr>
            <a:r>
              <a:rPr lang="en-US" sz="1313" dirty="0">
                <a:solidFill>
                  <a:srgbClr val="25333A">
                    <a:alpha val="50000"/>
                  </a:srgbClr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↑ 110 vs last month</a:t>
            </a:r>
            <a:endParaRPr lang="en-US" sz="1313" dirty="0"/>
          </a:p>
        </p:txBody>
      </p:sp>
      <p:sp>
        <p:nvSpPr>
          <p:cNvPr id="22" name="Shape 16"/>
          <p:cNvSpPr/>
          <p:nvPr/>
        </p:nvSpPr>
        <p:spPr>
          <a:xfrm>
            <a:off x="6438900" y="5316736"/>
            <a:ext cx="5410200" cy="1276350"/>
          </a:xfrm>
          <a:prstGeom prst="roundRect">
            <a:avLst>
              <a:gd name="adj" fmla="val 10448"/>
            </a:avLst>
          </a:prstGeom>
          <a:solidFill>
            <a:srgbClr val="226FBD">
              <a:alpha val="16000"/>
            </a:srgbClr>
          </a:solidFill>
          <a:ln w="9525">
            <a:solidFill>
              <a:srgbClr val="226FBD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3" name="Shape 17"/>
          <p:cNvSpPr/>
          <p:nvPr/>
        </p:nvSpPr>
        <p:spPr>
          <a:xfrm>
            <a:off x="6657975" y="5497711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57975" y="5497711"/>
            <a:ext cx="914400" cy="914400"/>
          </a:xfrm>
          <a:prstGeom prst="ellipse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762875" y="5543848"/>
            <a:ext cx="1656918" cy="2547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4792"/>
              </a:lnSpc>
              <a:buNone/>
            </a:pPr>
            <a:r>
              <a:rPr lang="en-US" sz="1313" b="1" dirty="0">
                <a:solidFill>
                  <a:srgbClr val="2533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Engagement Score</a:t>
            </a:r>
            <a:endParaRPr lang="en-US" sz="1313" dirty="0"/>
          </a:p>
        </p:txBody>
      </p:sp>
      <p:sp>
        <p:nvSpPr>
          <p:cNvPr id="26" name="Text 19"/>
          <p:cNvSpPr/>
          <p:nvPr/>
        </p:nvSpPr>
        <p:spPr>
          <a:xfrm>
            <a:off x="7762875" y="5731966"/>
            <a:ext cx="435471" cy="4762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696"/>
              </a:lnSpc>
              <a:buNone/>
            </a:pPr>
            <a:r>
              <a:rPr lang="en-US" sz="2550" b="1" kern="0" spc="-25" dirty="0">
                <a:solidFill>
                  <a:srgbClr val="226FB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72</a:t>
            </a:r>
            <a:endParaRPr lang="en-US" sz="2550" dirty="0"/>
          </a:p>
        </p:txBody>
      </p:sp>
      <p:sp>
        <p:nvSpPr>
          <p:cNvPr id="27" name="Text 20"/>
          <p:cNvSpPr/>
          <p:nvPr/>
        </p:nvSpPr>
        <p:spPr>
          <a:xfrm>
            <a:off x="7762875" y="6149132"/>
            <a:ext cx="1656918" cy="2547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1000"/>
              </a:lnSpc>
              <a:buNone/>
            </a:pPr>
            <a:r>
              <a:rPr lang="en-US" sz="1313" dirty="0">
                <a:solidFill>
                  <a:srgbClr val="25333A">
                    <a:alpha val="50000"/>
                  </a:srgbClr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of 100</a:t>
            </a:r>
            <a:endParaRPr lang="en-US" sz="1313" dirty="0"/>
          </a:p>
        </p:txBody>
      </p:sp>
      <p:sp>
        <p:nvSpPr>
          <p:cNvPr id="28" name="Shape 21"/>
          <p:cNvSpPr/>
          <p:nvPr/>
        </p:nvSpPr>
        <p:spPr>
          <a:xfrm>
            <a:off x="12039600" y="5316736"/>
            <a:ext cx="5410200" cy="1276350"/>
          </a:xfrm>
          <a:prstGeom prst="roundRect">
            <a:avLst>
              <a:gd name="adj" fmla="val 10448"/>
            </a:avLst>
          </a:prstGeom>
          <a:solidFill>
            <a:srgbClr val="A9E5D3">
              <a:alpha val="23000"/>
            </a:srgbClr>
          </a:solidFill>
          <a:ln w="9525">
            <a:solidFill>
              <a:srgbClr val="007F83">
                <a:alpha val="23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9" name="Shape 22"/>
          <p:cNvSpPr/>
          <p:nvPr/>
        </p:nvSpPr>
        <p:spPr>
          <a:xfrm>
            <a:off x="12258675" y="5497711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258675" y="5497711"/>
            <a:ext cx="914400" cy="914400"/>
          </a:xfrm>
          <a:prstGeom prst="ellipse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13363575" y="5543848"/>
            <a:ext cx="1870397" cy="2547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4792"/>
              </a:lnSpc>
              <a:buNone/>
            </a:pPr>
            <a:r>
              <a:rPr lang="en-US" sz="1313" b="1" dirty="0">
                <a:solidFill>
                  <a:srgbClr val="2533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Avg. Weekly Sessions</a:t>
            </a:r>
            <a:endParaRPr lang="en-US" sz="1313" dirty="0"/>
          </a:p>
        </p:txBody>
      </p:sp>
      <p:sp>
        <p:nvSpPr>
          <p:cNvPr id="32" name="Text 24"/>
          <p:cNvSpPr/>
          <p:nvPr/>
        </p:nvSpPr>
        <p:spPr>
          <a:xfrm>
            <a:off x="13363575" y="5731966"/>
            <a:ext cx="556766" cy="4762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696"/>
              </a:lnSpc>
              <a:buNone/>
            </a:pPr>
            <a:r>
              <a:rPr lang="en-US" sz="2550" b="1" kern="0" spc="-25" dirty="0">
                <a:solidFill>
                  <a:srgbClr val="007F8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4.6</a:t>
            </a:r>
            <a:endParaRPr lang="en-US" sz="2550" dirty="0"/>
          </a:p>
        </p:txBody>
      </p:sp>
      <p:sp>
        <p:nvSpPr>
          <p:cNvPr id="33" name="Text 25"/>
          <p:cNvSpPr/>
          <p:nvPr/>
        </p:nvSpPr>
        <p:spPr>
          <a:xfrm>
            <a:off x="13363575" y="6149132"/>
            <a:ext cx="1870397" cy="2547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1000"/>
              </a:lnSpc>
              <a:buNone/>
            </a:pPr>
            <a:r>
              <a:rPr lang="en-US" sz="1313" dirty="0">
                <a:solidFill>
                  <a:srgbClr val="25333A">
                    <a:alpha val="50000"/>
                  </a:srgbClr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↑ 0.6 vs last month</a:t>
            </a:r>
            <a:endParaRPr lang="en-US" sz="1313" dirty="0"/>
          </a:p>
        </p:txBody>
      </p:sp>
      <p:sp>
        <p:nvSpPr>
          <p:cNvPr id="34" name="Shape 26"/>
          <p:cNvSpPr/>
          <p:nvPr/>
        </p:nvSpPr>
        <p:spPr>
          <a:xfrm>
            <a:off x="838200" y="6783586"/>
            <a:ext cx="8210550" cy="2518172"/>
          </a:xfrm>
          <a:prstGeom prst="roundRect">
            <a:avLst>
              <a:gd name="adj" fmla="val 5296"/>
            </a:avLst>
          </a:prstGeom>
          <a:solidFill>
            <a:srgbClr val="FFFFFF"/>
          </a:solidFill>
          <a:ln w="9525">
            <a:solidFill>
              <a:srgbClr val="25333A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5" name="Shape 27"/>
          <p:cNvSpPr/>
          <p:nvPr/>
        </p:nvSpPr>
        <p:spPr>
          <a:xfrm>
            <a:off x="1076325" y="6983611"/>
            <a:ext cx="676275" cy="676275"/>
          </a:xfrm>
          <a:prstGeom prst="ellipse">
            <a:avLst/>
          </a:prstGeom>
          <a:solidFill>
            <a:srgbClr val="226FBD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76325" y="6983611"/>
            <a:ext cx="676275" cy="676275"/>
          </a:xfrm>
          <a:prstGeom prst="ellipse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1847850" y="7213402"/>
            <a:ext cx="1596182" cy="2547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4792"/>
              </a:lnSpc>
              <a:buNone/>
            </a:pPr>
            <a:r>
              <a:rPr lang="en-US" sz="1313" b="1" kern="0" spc="39" dirty="0">
                <a:solidFill>
                  <a:srgbClr val="226FB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INTERPRETATION</a:t>
            </a:r>
            <a:endParaRPr lang="en-US" sz="1313" dirty="0"/>
          </a:p>
        </p:txBody>
      </p:sp>
      <p:sp>
        <p:nvSpPr>
          <p:cNvPr id="38" name="Shape 29"/>
          <p:cNvSpPr/>
          <p:nvPr/>
        </p:nvSpPr>
        <p:spPr>
          <a:xfrm>
            <a:off x="1076325" y="7736086"/>
            <a:ext cx="1143000" cy="19050"/>
          </a:xfrm>
          <a:prstGeom prst="rect">
            <a:avLst/>
          </a:prstGeom>
          <a:solidFill>
            <a:srgbClr val="226FBD">
              <a:alpha val="33000"/>
            </a:srgb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9" name="Shape 30"/>
          <p:cNvSpPr/>
          <p:nvPr/>
        </p:nvSpPr>
        <p:spPr>
          <a:xfrm>
            <a:off x="1076325" y="7964686"/>
            <a:ext cx="47625" cy="47625"/>
          </a:xfrm>
          <a:prstGeom prst="ellipse">
            <a:avLst/>
          </a:prstGeom>
          <a:solidFill>
            <a:srgbClr val="226FBD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0" name="Text 31"/>
          <p:cNvSpPr/>
          <p:nvPr/>
        </p:nvSpPr>
        <p:spPr>
          <a:xfrm>
            <a:off x="1228725" y="7850386"/>
            <a:ext cx="246816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8942"/>
              </a:lnSpc>
              <a:buNone/>
            </a:pPr>
            <a:r>
              <a:rPr lang="en-US" sz="1388" dirty="0">
                <a:solidFill>
                  <a:srgbClr val="25333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Active adoption is strong at 78%.</a:t>
            </a:r>
            <a:endParaRPr lang="en-US" sz="1388" dirty="0"/>
          </a:p>
        </p:txBody>
      </p:sp>
      <p:sp>
        <p:nvSpPr>
          <p:cNvPr id="41" name="Shape 32"/>
          <p:cNvSpPr/>
          <p:nvPr/>
        </p:nvSpPr>
        <p:spPr>
          <a:xfrm>
            <a:off x="1076325" y="8470702"/>
            <a:ext cx="47625" cy="47625"/>
          </a:xfrm>
          <a:prstGeom prst="ellipse">
            <a:avLst/>
          </a:prstGeom>
          <a:solidFill>
            <a:srgbClr val="226FBD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2" name="Text 33"/>
          <p:cNvSpPr/>
          <p:nvPr/>
        </p:nvSpPr>
        <p:spPr>
          <a:xfrm>
            <a:off x="1228725" y="8356402"/>
            <a:ext cx="316120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8942"/>
              </a:lnSpc>
              <a:buNone/>
            </a:pPr>
            <a:r>
              <a:rPr lang="en-US" sz="1388" dirty="0">
                <a:solidFill>
                  <a:srgbClr val="25333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Active users increased +110 vs last month.</a:t>
            </a:r>
            <a:endParaRPr lang="en-US" sz="1388" dirty="0"/>
          </a:p>
        </p:txBody>
      </p:sp>
      <p:sp>
        <p:nvSpPr>
          <p:cNvPr id="43" name="Shape 34"/>
          <p:cNvSpPr/>
          <p:nvPr/>
        </p:nvSpPr>
        <p:spPr>
          <a:xfrm>
            <a:off x="1076325" y="8976717"/>
            <a:ext cx="47625" cy="47625"/>
          </a:xfrm>
          <a:prstGeom prst="ellipse">
            <a:avLst/>
          </a:prstGeom>
          <a:solidFill>
            <a:srgbClr val="226FBD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4" name="Text 35"/>
          <p:cNvSpPr/>
          <p:nvPr/>
        </p:nvSpPr>
        <p:spPr>
          <a:xfrm>
            <a:off x="1228725" y="8862417"/>
            <a:ext cx="522054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8942"/>
              </a:lnSpc>
              <a:buNone/>
            </a:pPr>
            <a:r>
              <a:rPr lang="en-US" sz="1388" dirty="0">
                <a:solidFill>
                  <a:srgbClr val="25333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Engagement trend shows consistent growth across the last 6 months.</a:t>
            </a:r>
            <a:endParaRPr lang="en-US" sz="1388" dirty="0"/>
          </a:p>
        </p:txBody>
      </p:sp>
      <p:sp>
        <p:nvSpPr>
          <p:cNvPr id="45" name="Shape 36"/>
          <p:cNvSpPr/>
          <p:nvPr/>
        </p:nvSpPr>
        <p:spPr>
          <a:xfrm>
            <a:off x="9239250" y="6783586"/>
            <a:ext cx="8210550" cy="2518172"/>
          </a:xfrm>
          <a:prstGeom prst="roundRect">
            <a:avLst>
              <a:gd name="adj" fmla="val 5296"/>
            </a:avLst>
          </a:prstGeom>
          <a:solidFill>
            <a:srgbClr val="FFFFFF"/>
          </a:solidFill>
          <a:ln w="9525">
            <a:solidFill>
              <a:srgbClr val="25333A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6" name="Shape 37"/>
          <p:cNvSpPr/>
          <p:nvPr/>
        </p:nvSpPr>
        <p:spPr>
          <a:xfrm>
            <a:off x="9477375" y="6983611"/>
            <a:ext cx="676275" cy="676275"/>
          </a:xfrm>
          <a:prstGeom prst="ellipse">
            <a:avLst/>
          </a:prstGeom>
          <a:solidFill>
            <a:srgbClr val="007F83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47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77375" y="6983611"/>
            <a:ext cx="676275" cy="676275"/>
          </a:xfrm>
          <a:prstGeom prst="ellipse">
            <a:avLst/>
          </a:prstGeom>
        </p:spPr>
      </p:pic>
      <p:sp>
        <p:nvSpPr>
          <p:cNvPr id="48" name="Text 38"/>
          <p:cNvSpPr/>
          <p:nvPr/>
        </p:nvSpPr>
        <p:spPr>
          <a:xfrm>
            <a:off x="10248900" y="7213402"/>
            <a:ext cx="1113086" cy="2547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4792"/>
              </a:lnSpc>
              <a:buNone/>
            </a:pPr>
            <a:r>
              <a:rPr lang="en-US" sz="1313" b="1" kern="0" spc="39" dirty="0">
                <a:solidFill>
                  <a:srgbClr val="007F8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NEXT STEPS</a:t>
            </a:r>
            <a:endParaRPr lang="en-US" sz="1313" dirty="0"/>
          </a:p>
        </p:txBody>
      </p:sp>
      <p:sp>
        <p:nvSpPr>
          <p:cNvPr id="49" name="Shape 39"/>
          <p:cNvSpPr/>
          <p:nvPr/>
        </p:nvSpPr>
        <p:spPr>
          <a:xfrm>
            <a:off x="9477375" y="7736086"/>
            <a:ext cx="952500" cy="19050"/>
          </a:xfrm>
          <a:prstGeom prst="rect">
            <a:avLst/>
          </a:prstGeom>
          <a:solidFill>
            <a:srgbClr val="007F83">
              <a:alpha val="33000"/>
            </a:srgb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0" name="Shape 40"/>
          <p:cNvSpPr/>
          <p:nvPr/>
        </p:nvSpPr>
        <p:spPr>
          <a:xfrm>
            <a:off x="9477375" y="7964686"/>
            <a:ext cx="47625" cy="47625"/>
          </a:xfrm>
          <a:prstGeom prst="ellipse">
            <a:avLst/>
          </a:prstGeom>
          <a:solidFill>
            <a:srgbClr val="007F8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1" name="Text 41"/>
          <p:cNvSpPr/>
          <p:nvPr/>
        </p:nvSpPr>
        <p:spPr>
          <a:xfrm>
            <a:off x="9629775" y="7850386"/>
            <a:ext cx="392261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8942"/>
              </a:lnSpc>
              <a:buNone/>
            </a:pPr>
            <a:r>
              <a:rPr lang="en-US" sz="1388" dirty="0">
                <a:solidFill>
                  <a:srgbClr val="25333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Expand adoption of advanced features in key teams.</a:t>
            </a:r>
            <a:endParaRPr lang="en-US" sz="1388" dirty="0"/>
          </a:p>
        </p:txBody>
      </p:sp>
      <p:sp>
        <p:nvSpPr>
          <p:cNvPr id="52" name="Shape 42"/>
          <p:cNvSpPr/>
          <p:nvPr/>
        </p:nvSpPr>
        <p:spPr>
          <a:xfrm>
            <a:off x="9477375" y="8470702"/>
            <a:ext cx="47625" cy="47625"/>
          </a:xfrm>
          <a:prstGeom prst="ellipse">
            <a:avLst/>
          </a:prstGeom>
          <a:solidFill>
            <a:srgbClr val="007F8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3" name="Text 43"/>
          <p:cNvSpPr/>
          <p:nvPr/>
        </p:nvSpPr>
        <p:spPr>
          <a:xfrm>
            <a:off x="9629775" y="8356402"/>
            <a:ext cx="460737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8942"/>
              </a:lnSpc>
              <a:buNone/>
            </a:pPr>
            <a:r>
              <a:rPr lang="en-US" sz="1388" dirty="0">
                <a:solidFill>
                  <a:srgbClr val="25333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Leverage in-app guidance and training to drive deeper usage.</a:t>
            </a:r>
            <a:endParaRPr lang="en-US" sz="1388" dirty="0"/>
          </a:p>
        </p:txBody>
      </p:sp>
      <p:sp>
        <p:nvSpPr>
          <p:cNvPr id="54" name="Shape 44"/>
          <p:cNvSpPr/>
          <p:nvPr/>
        </p:nvSpPr>
        <p:spPr>
          <a:xfrm>
            <a:off x="9477375" y="8976717"/>
            <a:ext cx="47625" cy="47625"/>
          </a:xfrm>
          <a:prstGeom prst="ellipse">
            <a:avLst/>
          </a:prstGeom>
          <a:solidFill>
            <a:srgbClr val="007F8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5" name="Text 45"/>
          <p:cNvSpPr/>
          <p:nvPr/>
        </p:nvSpPr>
        <p:spPr>
          <a:xfrm>
            <a:off x="9629775" y="8862417"/>
            <a:ext cx="416236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8942"/>
              </a:lnSpc>
              <a:buNone/>
            </a:pPr>
            <a:r>
              <a:rPr lang="en-US" sz="1388" dirty="0">
                <a:solidFill>
                  <a:srgbClr val="25333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Schedule enablement workshop for priority workflows.</a:t>
            </a:r>
            <a:endParaRPr lang="en-US" sz="1388" dirty="0"/>
          </a:p>
        </p:txBody>
      </p:sp>
      <p:sp>
        <p:nvSpPr>
          <p:cNvPr id="56" name="Text 46"/>
          <p:cNvSpPr/>
          <p:nvPr/>
        </p:nvSpPr>
        <p:spPr>
          <a:xfrm>
            <a:off x="838200" y="9795570"/>
            <a:ext cx="5366608" cy="224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050" b="1" kern="0" spc="52" dirty="0">
                <a:solidFill>
                  <a:srgbClr val="25333A">
                    <a:alpha val="34000"/>
                  </a:srgbClr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SOURCE: CUSTOMER SUCCESS AI | HUB PLATFORM | DATA AS OF MAY 31, 2026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825" y="457200"/>
            <a:ext cx="2143125" cy="67523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76550" y="553789"/>
            <a:ext cx="6581835" cy="5200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4333"/>
              </a:lnSpc>
              <a:buNone/>
            </a:pPr>
            <a:r>
              <a:rPr lang="en-US" sz="3300" b="1" kern="0" spc="-33" dirty="0">
                <a:solidFill>
                  <a:srgbClr val="2533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Open Commitments &amp; Actions</a:t>
            </a:r>
            <a:endParaRPr lang="en-US" sz="3300" dirty="0"/>
          </a:p>
        </p:txBody>
      </p:sp>
      <p:sp>
        <p:nvSpPr>
          <p:cNvPr id="4" name="Shape 1"/>
          <p:cNvSpPr/>
          <p:nvPr/>
        </p:nvSpPr>
        <p:spPr>
          <a:xfrm>
            <a:off x="838200" y="1265783"/>
            <a:ext cx="533400" cy="28575"/>
          </a:xfrm>
          <a:prstGeom prst="rect">
            <a:avLst/>
          </a:prstGeom>
          <a:solidFill>
            <a:srgbClr val="007F8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Shape 2"/>
          <p:cNvSpPr/>
          <p:nvPr/>
        </p:nvSpPr>
        <p:spPr>
          <a:xfrm>
            <a:off x="838200" y="1542008"/>
            <a:ext cx="16611600" cy="6615113"/>
          </a:xfrm>
          <a:prstGeom prst="roundRect">
            <a:avLst>
              <a:gd name="adj" fmla="val 2016"/>
            </a:avLst>
          </a:prstGeom>
          <a:solidFill>
            <a:srgbClr val="FFFFFF"/>
          </a:solidFill>
          <a:ln w="9525">
            <a:solidFill>
              <a:srgbClr val="25333A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Shape 3"/>
          <p:cNvSpPr/>
          <p:nvPr/>
        </p:nvSpPr>
        <p:spPr>
          <a:xfrm>
            <a:off x="847725" y="1551533"/>
            <a:ext cx="16592550" cy="461963"/>
          </a:xfrm>
          <a:prstGeom prst="rect">
            <a:avLst/>
          </a:prstGeom>
          <a:solidFill>
            <a:srgbClr val="0F6B6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7" name="Text 4"/>
          <p:cNvSpPr/>
          <p:nvPr/>
        </p:nvSpPr>
        <p:spPr>
          <a:xfrm>
            <a:off x="1076325" y="1703933"/>
            <a:ext cx="7509093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1739"/>
              </a:lnSpc>
              <a:buNone/>
            </a:pPr>
            <a:r>
              <a:rPr lang="en-US" sz="1238" b="1" kern="0" spc="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COMMITMENT / ACTION</a:t>
            </a:r>
            <a:endParaRPr lang="en-US" sz="1238" dirty="0"/>
          </a:p>
        </p:txBody>
      </p:sp>
      <p:sp>
        <p:nvSpPr>
          <p:cNvPr id="8" name="Text 5"/>
          <p:cNvSpPr/>
          <p:nvPr/>
        </p:nvSpPr>
        <p:spPr>
          <a:xfrm>
            <a:off x="7902773" y="1703933"/>
            <a:ext cx="3413209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1739"/>
              </a:lnSpc>
              <a:buNone/>
            </a:pPr>
            <a:r>
              <a:rPr lang="en-US" sz="1238" b="1" kern="0" spc="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OWNER</a:t>
            </a:r>
            <a:endParaRPr lang="en-US" sz="1238" dirty="0"/>
          </a:p>
        </p:txBody>
      </p:sp>
      <p:sp>
        <p:nvSpPr>
          <p:cNvPr id="9" name="Text 6"/>
          <p:cNvSpPr/>
          <p:nvPr/>
        </p:nvSpPr>
        <p:spPr>
          <a:xfrm>
            <a:off x="11005691" y="1703933"/>
            <a:ext cx="3413209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1739"/>
              </a:lnSpc>
              <a:buNone/>
            </a:pPr>
            <a:r>
              <a:rPr lang="en-US" sz="1238" b="1" kern="0" spc="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DUE DATE</a:t>
            </a:r>
            <a:endParaRPr lang="en-US" sz="1238" dirty="0"/>
          </a:p>
        </p:txBody>
      </p:sp>
      <p:sp>
        <p:nvSpPr>
          <p:cNvPr id="10" name="Text 7"/>
          <p:cNvSpPr/>
          <p:nvPr/>
        </p:nvSpPr>
        <p:spPr>
          <a:xfrm>
            <a:off x="14108609" y="1703933"/>
            <a:ext cx="3413373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1739"/>
              </a:lnSpc>
              <a:buNone/>
            </a:pPr>
            <a:r>
              <a:rPr lang="en-US" sz="1238" b="1" kern="0" spc="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STATUS</a:t>
            </a:r>
            <a:endParaRPr lang="en-US" sz="1238" dirty="0"/>
          </a:p>
        </p:txBody>
      </p:sp>
      <p:sp>
        <p:nvSpPr>
          <p:cNvPr id="11" name="Shape 8"/>
          <p:cNvSpPr/>
          <p:nvPr/>
        </p:nvSpPr>
        <p:spPr>
          <a:xfrm>
            <a:off x="847725" y="3232696"/>
            <a:ext cx="16592550" cy="9525"/>
          </a:xfrm>
          <a:prstGeom prst="rect">
            <a:avLst/>
          </a:prstGeom>
          <a:solidFill>
            <a:srgbClr val="25333A">
              <a:alpha val="8000"/>
            </a:srgb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2" name="Shape 9"/>
          <p:cNvSpPr/>
          <p:nvPr/>
        </p:nvSpPr>
        <p:spPr>
          <a:xfrm>
            <a:off x="1076325" y="2184946"/>
            <a:ext cx="876300" cy="876300"/>
          </a:xfrm>
          <a:prstGeom prst="ellipse">
            <a:avLst/>
          </a:prstGeom>
          <a:solidFill>
            <a:srgbClr val="A9E5D3">
              <a:alpha val="38000"/>
            </a:srgbClr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6325" y="2184946"/>
            <a:ext cx="876300" cy="876300"/>
          </a:xfrm>
          <a:prstGeom prst="ellipse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085975" y="2184946"/>
            <a:ext cx="576459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6296"/>
              </a:lnSpc>
              <a:buNone/>
            </a:pPr>
            <a:r>
              <a:rPr lang="en-US" sz="1500" b="1" dirty="0">
                <a:solidFill>
                  <a:srgbClr val="2533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Expand AI Adoption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2085975" y="2432596"/>
            <a:ext cx="5764590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800"/>
              </a:lnSpc>
              <a:buNone/>
            </a:pPr>
            <a:r>
              <a:rPr lang="en-US" sz="1350" dirty="0">
                <a:solidFill>
                  <a:srgbClr val="25333A">
                    <a:alpha val="55000"/>
                  </a:srgbClr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Increase active AI use across priority teams through targeted enablement.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7871966" y="2415183"/>
            <a:ext cx="3340685" cy="2671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500"/>
              </a:lnSpc>
              <a:buNone/>
            </a:pPr>
            <a:r>
              <a:rPr lang="en-US" sz="1388" b="1" dirty="0">
                <a:solidFill>
                  <a:srgbClr val="2533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Alex Morgan</a:t>
            </a:r>
            <a:endParaRPr lang="en-US" sz="1388" dirty="0"/>
          </a:p>
        </p:txBody>
      </p:sp>
      <p:sp>
        <p:nvSpPr>
          <p:cNvPr id="17" name="Text 13"/>
          <p:cNvSpPr/>
          <p:nvPr/>
        </p:nvSpPr>
        <p:spPr>
          <a:xfrm>
            <a:off x="7871966" y="2644229"/>
            <a:ext cx="3340685" cy="224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25333A">
                    <a:alpha val="34000"/>
                  </a:srgbClr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CSM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11023253" y="2508498"/>
            <a:ext cx="3340685" cy="267146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92500"/>
              </a:lnSpc>
              <a:buNone/>
            </a:pPr>
            <a:r>
              <a:rPr lang="en-US" sz="1388" b="1" dirty="0">
                <a:solidFill>
                  <a:srgbClr val="25333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Oct 31, 2026</a:t>
            </a:r>
            <a:endParaRPr lang="en-US" sz="1388" dirty="0"/>
          </a:p>
        </p:txBody>
      </p:sp>
      <p:sp>
        <p:nvSpPr>
          <p:cNvPr id="19" name="Shape 15"/>
          <p:cNvSpPr/>
          <p:nvPr/>
        </p:nvSpPr>
        <p:spPr>
          <a:xfrm>
            <a:off x="14174539" y="2484983"/>
            <a:ext cx="890736" cy="276225"/>
          </a:xfrm>
          <a:prstGeom prst="roundRect">
            <a:avLst>
              <a:gd name="adj" fmla="val 50000"/>
            </a:avLst>
          </a:prstGeom>
          <a:solidFill>
            <a:srgbClr val="007F8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0" name="Text 16"/>
          <p:cNvSpPr/>
          <p:nvPr/>
        </p:nvSpPr>
        <p:spPr>
          <a:xfrm>
            <a:off x="14307889" y="2551658"/>
            <a:ext cx="700236" cy="1809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71429"/>
              </a:lnSpc>
              <a:buNone/>
            </a:pPr>
            <a:r>
              <a:rPr lang="en-US" sz="1125" b="1" kern="0" spc="22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On Track</a:t>
            </a:r>
            <a:endParaRPr lang="en-US" sz="1125" dirty="0"/>
          </a:p>
        </p:txBody>
      </p:sp>
      <p:sp>
        <p:nvSpPr>
          <p:cNvPr id="21" name="Shape 17"/>
          <p:cNvSpPr/>
          <p:nvPr/>
        </p:nvSpPr>
        <p:spPr>
          <a:xfrm>
            <a:off x="847725" y="4461421"/>
            <a:ext cx="16592550" cy="9525"/>
          </a:xfrm>
          <a:prstGeom prst="rect">
            <a:avLst/>
          </a:prstGeom>
          <a:solidFill>
            <a:srgbClr val="25333A">
              <a:alpha val="8000"/>
            </a:srgb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2" name="Shape 18"/>
          <p:cNvSpPr/>
          <p:nvPr/>
        </p:nvSpPr>
        <p:spPr>
          <a:xfrm>
            <a:off x="1076325" y="3413671"/>
            <a:ext cx="876300" cy="876300"/>
          </a:xfrm>
          <a:prstGeom prst="ellipse">
            <a:avLst/>
          </a:prstGeom>
          <a:solidFill>
            <a:srgbClr val="226FBD">
              <a:alpha val="20000"/>
            </a:srgbClr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6325" y="3413671"/>
            <a:ext cx="876300" cy="876300"/>
          </a:xfrm>
          <a:prstGeom prst="ellipse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2085975" y="3413671"/>
            <a:ext cx="553932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6296"/>
              </a:lnSpc>
              <a:buNone/>
            </a:pPr>
            <a:r>
              <a:rPr lang="en-US" sz="1500" b="1" dirty="0">
                <a:solidFill>
                  <a:srgbClr val="2533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Data Quality Improvement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2085975" y="3661321"/>
            <a:ext cx="5539323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800"/>
              </a:lnSpc>
              <a:buNone/>
            </a:pPr>
            <a:r>
              <a:rPr lang="en-US" sz="1350" dirty="0">
                <a:solidFill>
                  <a:srgbClr val="25333A">
                    <a:alpha val="55000"/>
                  </a:srgbClr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Strengthen data quality to improve AI accuracy and recommendations.</a:t>
            </a:r>
            <a:endParaRPr lang="en-US" sz="1350" dirty="0"/>
          </a:p>
        </p:txBody>
      </p:sp>
      <p:sp>
        <p:nvSpPr>
          <p:cNvPr id="26" name="Text 21"/>
          <p:cNvSpPr/>
          <p:nvPr/>
        </p:nvSpPr>
        <p:spPr>
          <a:xfrm>
            <a:off x="7871966" y="3643908"/>
            <a:ext cx="3340685" cy="2671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500"/>
              </a:lnSpc>
              <a:buNone/>
            </a:pPr>
            <a:r>
              <a:rPr lang="en-US" sz="1388" b="1" dirty="0">
                <a:solidFill>
                  <a:srgbClr val="2533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Jordan Lee</a:t>
            </a:r>
            <a:endParaRPr lang="en-US" sz="1388" dirty="0"/>
          </a:p>
        </p:txBody>
      </p:sp>
      <p:sp>
        <p:nvSpPr>
          <p:cNvPr id="27" name="Text 22"/>
          <p:cNvSpPr/>
          <p:nvPr/>
        </p:nvSpPr>
        <p:spPr>
          <a:xfrm>
            <a:off x="7871966" y="3872954"/>
            <a:ext cx="3340685" cy="224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25333A">
                    <a:alpha val="34000"/>
                  </a:srgbClr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Customer Data Lead</a:t>
            </a:r>
            <a:endParaRPr lang="en-US" sz="1050" dirty="0"/>
          </a:p>
        </p:txBody>
      </p:sp>
      <p:sp>
        <p:nvSpPr>
          <p:cNvPr id="28" name="Text 23"/>
          <p:cNvSpPr/>
          <p:nvPr/>
        </p:nvSpPr>
        <p:spPr>
          <a:xfrm>
            <a:off x="11023253" y="3737223"/>
            <a:ext cx="3340685" cy="267146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92500"/>
              </a:lnSpc>
              <a:buNone/>
            </a:pPr>
            <a:r>
              <a:rPr lang="en-US" sz="1388" b="1" dirty="0">
                <a:solidFill>
                  <a:srgbClr val="25333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Nov 15, 2026</a:t>
            </a:r>
            <a:endParaRPr lang="en-US" sz="1388" dirty="0"/>
          </a:p>
        </p:txBody>
      </p:sp>
      <p:sp>
        <p:nvSpPr>
          <p:cNvPr id="29" name="Shape 24"/>
          <p:cNvSpPr/>
          <p:nvPr/>
        </p:nvSpPr>
        <p:spPr>
          <a:xfrm>
            <a:off x="14174539" y="3713708"/>
            <a:ext cx="1075730" cy="276225"/>
          </a:xfrm>
          <a:prstGeom prst="roundRect">
            <a:avLst>
              <a:gd name="adj" fmla="val 50000"/>
            </a:avLst>
          </a:prstGeom>
          <a:solidFill>
            <a:srgbClr val="226FBD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0" name="Text 25"/>
          <p:cNvSpPr/>
          <p:nvPr/>
        </p:nvSpPr>
        <p:spPr>
          <a:xfrm>
            <a:off x="14307889" y="3780383"/>
            <a:ext cx="885230" cy="1809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71429"/>
              </a:lnSpc>
              <a:buNone/>
            </a:pPr>
            <a:r>
              <a:rPr lang="en-US" sz="1125" b="1" kern="0" spc="22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 Progress</a:t>
            </a:r>
            <a:endParaRPr lang="en-US" sz="1125" dirty="0"/>
          </a:p>
        </p:txBody>
      </p:sp>
      <p:sp>
        <p:nvSpPr>
          <p:cNvPr id="31" name="Shape 26"/>
          <p:cNvSpPr/>
          <p:nvPr/>
        </p:nvSpPr>
        <p:spPr>
          <a:xfrm>
            <a:off x="847725" y="5690146"/>
            <a:ext cx="16592550" cy="9525"/>
          </a:xfrm>
          <a:prstGeom prst="rect">
            <a:avLst/>
          </a:prstGeom>
          <a:solidFill>
            <a:srgbClr val="25333A">
              <a:alpha val="8000"/>
            </a:srgb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2" name="Shape 27"/>
          <p:cNvSpPr/>
          <p:nvPr/>
        </p:nvSpPr>
        <p:spPr>
          <a:xfrm>
            <a:off x="1076325" y="4642396"/>
            <a:ext cx="876300" cy="876300"/>
          </a:xfrm>
          <a:prstGeom prst="ellipse">
            <a:avLst/>
          </a:prstGeom>
          <a:solidFill>
            <a:srgbClr val="7462A6">
              <a:alpha val="20000"/>
            </a:srgbClr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6325" y="4642396"/>
            <a:ext cx="876300" cy="876300"/>
          </a:xfrm>
          <a:prstGeom prst="ellipse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2085975" y="4642396"/>
            <a:ext cx="526248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6296"/>
              </a:lnSpc>
              <a:buNone/>
            </a:pPr>
            <a:r>
              <a:rPr lang="en-US" sz="1500" b="1" dirty="0">
                <a:solidFill>
                  <a:srgbClr val="2533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CRM Integration Completion</a:t>
            </a:r>
            <a:endParaRPr lang="en-US" sz="1500" dirty="0"/>
          </a:p>
        </p:txBody>
      </p:sp>
      <p:sp>
        <p:nvSpPr>
          <p:cNvPr id="35" name="Text 29"/>
          <p:cNvSpPr/>
          <p:nvPr/>
        </p:nvSpPr>
        <p:spPr>
          <a:xfrm>
            <a:off x="2085975" y="4890046"/>
            <a:ext cx="5262488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800"/>
              </a:lnSpc>
              <a:buNone/>
            </a:pPr>
            <a:r>
              <a:rPr lang="en-US" sz="1350" dirty="0">
                <a:solidFill>
                  <a:srgbClr val="25333A">
                    <a:alpha val="55000"/>
                  </a:srgbClr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Complete bi-directional sync to streamline workflows and visibility.</a:t>
            </a:r>
            <a:endParaRPr lang="en-US" sz="1350" dirty="0"/>
          </a:p>
        </p:txBody>
      </p:sp>
      <p:sp>
        <p:nvSpPr>
          <p:cNvPr id="36" name="Text 30"/>
          <p:cNvSpPr/>
          <p:nvPr/>
        </p:nvSpPr>
        <p:spPr>
          <a:xfrm>
            <a:off x="7871966" y="4872633"/>
            <a:ext cx="3340685" cy="2671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500"/>
              </a:lnSpc>
              <a:buNone/>
            </a:pPr>
            <a:r>
              <a:rPr lang="en-US" sz="1388" b="1" dirty="0">
                <a:solidFill>
                  <a:srgbClr val="2533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Taylor Patel</a:t>
            </a:r>
            <a:endParaRPr lang="en-US" sz="1388" dirty="0"/>
          </a:p>
        </p:txBody>
      </p:sp>
      <p:sp>
        <p:nvSpPr>
          <p:cNvPr id="37" name="Text 31"/>
          <p:cNvSpPr/>
          <p:nvPr/>
        </p:nvSpPr>
        <p:spPr>
          <a:xfrm>
            <a:off x="7871966" y="5101679"/>
            <a:ext cx="3340685" cy="224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25333A">
                    <a:alpha val="34000"/>
                  </a:srgbClr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Solution Architect</a:t>
            </a:r>
            <a:endParaRPr lang="en-US" sz="1050" dirty="0"/>
          </a:p>
        </p:txBody>
      </p:sp>
      <p:sp>
        <p:nvSpPr>
          <p:cNvPr id="38" name="Text 32"/>
          <p:cNvSpPr/>
          <p:nvPr/>
        </p:nvSpPr>
        <p:spPr>
          <a:xfrm>
            <a:off x="11023253" y="4965948"/>
            <a:ext cx="3340685" cy="267146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92500"/>
              </a:lnSpc>
              <a:buNone/>
            </a:pPr>
            <a:r>
              <a:rPr lang="en-US" sz="1388" b="1" dirty="0">
                <a:solidFill>
                  <a:srgbClr val="25333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Dec 5, 2026</a:t>
            </a:r>
            <a:endParaRPr lang="en-US" sz="1388" dirty="0"/>
          </a:p>
        </p:txBody>
      </p:sp>
      <p:sp>
        <p:nvSpPr>
          <p:cNvPr id="39" name="Shape 33"/>
          <p:cNvSpPr/>
          <p:nvPr/>
        </p:nvSpPr>
        <p:spPr>
          <a:xfrm>
            <a:off x="14174539" y="4942433"/>
            <a:ext cx="758726" cy="276225"/>
          </a:xfrm>
          <a:prstGeom prst="roundRect">
            <a:avLst>
              <a:gd name="adj" fmla="val 50000"/>
            </a:avLst>
          </a:prstGeom>
          <a:solidFill>
            <a:srgbClr val="7462A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0" name="Text 34"/>
          <p:cNvSpPr/>
          <p:nvPr/>
        </p:nvSpPr>
        <p:spPr>
          <a:xfrm>
            <a:off x="14307889" y="5009108"/>
            <a:ext cx="568226" cy="1809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71429"/>
              </a:lnSpc>
              <a:buNone/>
            </a:pPr>
            <a:r>
              <a:rPr lang="en-US" sz="1125" b="1" kern="0" spc="22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At Risk</a:t>
            </a:r>
            <a:endParaRPr lang="en-US" sz="1125" dirty="0"/>
          </a:p>
        </p:txBody>
      </p:sp>
      <p:sp>
        <p:nvSpPr>
          <p:cNvPr id="41" name="Shape 35"/>
          <p:cNvSpPr/>
          <p:nvPr/>
        </p:nvSpPr>
        <p:spPr>
          <a:xfrm>
            <a:off x="847725" y="6918871"/>
            <a:ext cx="16592550" cy="9525"/>
          </a:xfrm>
          <a:prstGeom prst="rect">
            <a:avLst/>
          </a:prstGeom>
          <a:solidFill>
            <a:srgbClr val="25333A">
              <a:alpha val="8000"/>
            </a:srgb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2" name="Shape 36"/>
          <p:cNvSpPr/>
          <p:nvPr/>
        </p:nvSpPr>
        <p:spPr>
          <a:xfrm>
            <a:off x="1076325" y="5871121"/>
            <a:ext cx="876300" cy="876300"/>
          </a:xfrm>
          <a:prstGeom prst="ellipse">
            <a:avLst/>
          </a:prstGeom>
          <a:solidFill>
            <a:srgbClr val="A9E5D3">
              <a:alpha val="38000"/>
            </a:srgbClr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4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6325" y="5871121"/>
            <a:ext cx="876300" cy="876300"/>
          </a:xfrm>
          <a:prstGeom prst="ellipse">
            <a:avLst/>
          </a:prstGeom>
        </p:spPr>
      </p:pic>
      <p:sp>
        <p:nvSpPr>
          <p:cNvPr id="44" name="Text 37"/>
          <p:cNvSpPr/>
          <p:nvPr/>
        </p:nvSpPr>
        <p:spPr>
          <a:xfrm>
            <a:off x="2085975" y="5871121"/>
            <a:ext cx="496617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6296"/>
              </a:lnSpc>
              <a:buNone/>
            </a:pPr>
            <a:r>
              <a:rPr lang="en-US" sz="1500" b="1" dirty="0">
                <a:solidFill>
                  <a:srgbClr val="2533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User Training &amp; Adoption</a:t>
            </a:r>
            <a:endParaRPr lang="en-US" sz="1500" dirty="0"/>
          </a:p>
        </p:txBody>
      </p:sp>
      <p:sp>
        <p:nvSpPr>
          <p:cNvPr id="45" name="Text 38"/>
          <p:cNvSpPr/>
          <p:nvPr/>
        </p:nvSpPr>
        <p:spPr>
          <a:xfrm>
            <a:off x="2085975" y="6118771"/>
            <a:ext cx="4966171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800"/>
              </a:lnSpc>
              <a:buNone/>
            </a:pPr>
            <a:r>
              <a:rPr lang="en-US" sz="1350" dirty="0">
                <a:solidFill>
                  <a:srgbClr val="25333A">
                    <a:alpha val="55000"/>
                  </a:srgbClr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Drive user proficiency with role-based training and office hours.</a:t>
            </a:r>
            <a:endParaRPr lang="en-US" sz="1350" dirty="0"/>
          </a:p>
        </p:txBody>
      </p:sp>
      <p:sp>
        <p:nvSpPr>
          <p:cNvPr id="46" name="Text 39"/>
          <p:cNvSpPr/>
          <p:nvPr/>
        </p:nvSpPr>
        <p:spPr>
          <a:xfrm>
            <a:off x="7871966" y="6101358"/>
            <a:ext cx="3340685" cy="2671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500"/>
              </a:lnSpc>
              <a:buNone/>
            </a:pPr>
            <a:r>
              <a:rPr lang="en-US" sz="1388" b="1" dirty="0">
                <a:solidFill>
                  <a:srgbClr val="2533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Morgan Chen</a:t>
            </a:r>
            <a:endParaRPr lang="en-US" sz="1388" dirty="0"/>
          </a:p>
        </p:txBody>
      </p:sp>
      <p:sp>
        <p:nvSpPr>
          <p:cNvPr id="47" name="Text 40"/>
          <p:cNvSpPr/>
          <p:nvPr/>
        </p:nvSpPr>
        <p:spPr>
          <a:xfrm>
            <a:off x="7871966" y="6330404"/>
            <a:ext cx="3340685" cy="224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25333A">
                    <a:alpha val="34000"/>
                  </a:srgbClr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Enablement Lead</a:t>
            </a:r>
            <a:endParaRPr lang="en-US" sz="1050" dirty="0"/>
          </a:p>
        </p:txBody>
      </p:sp>
      <p:sp>
        <p:nvSpPr>
          <p:cNvPr id="48" name="Text 41"/>
          <p:cNvSpPr/>
          <p:nvPr/>
        </p:nvSpPr>
        <p:spPr>
          <a:xfrm>
            <a:off x="11023253" y="6194673"/>
            <a:ext cx="3340685" cy="267146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92500"/>
              </a:lnSpc>
              <a:buNone/>
            </a:pPr>
            <a:r>
              <a:rPr lang="en-US" sz="1388" b="1" dirty="0">
                <a:solidFill>
                  <a:srgbClr val="25333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Dec 15, 2026</a:t>
            </a:r>
            <a:endParaRPr lang="en-US" sz="1388" dirty="0"/>
          </a:p>
        </p:txBody>
      </p:sp>
      <p:sp>
        <p:nvSpPr>
          <p:cNvPr id="49" name="Shape 42"/>
          <p:cNvSpPr/>
          <p:nvPr/>
        </p:nvSpPr>
        <p:spPr>
          <a:xfrm>
            <a:off x="14174539" y="6171158"/>
            <a:ext cx="890736" cy="276225"/>
          </a:xfrm>
          <a:prstGeom prst="roundRect">
            <a:avLst>
              <a:gd name="adj" fmla="val 50000"/>
            </a:avLst>
          </a:prstGeom>
          <a:solidFill>
            <a:srgbClr val="007F8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0" name="Text 43"/>
          <p:cNvSpPr/>
          <p:nvPr/>
        </p:nvSpPr>
        <p:spPr>
          <a:xfrm>
            <a:off x="14307889" y="6237833"/>
            <a:ext cx="700236" cy="1809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71429"/>
              </a:lnSpc>
              <a:buNone/>
            </a:pPr>
            <a:r>
              <a:rPr lang="en-US" sz="1125" b="1" kern="0" spc="22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On Track</a:t>
            </a:r>
            <a:endParaRPr lang="en-US" sz="1125" dirty="0"/>
          </a:p>
        </p:txBody>
      </p:sp>
      <p:sp>
        <p:nvSpPr>
          <p:cNvPr id="51" name="Shape 44"/>
          <p:cNvSpPr/>
          <p:nvPr/>
        </p:nvSpPr>
        <p:spPr>
          <a:xfrm>
            <a:off x="1076325" y="7099846"/>
            <a:ext cx="876300" cy="876300"/>
          </a:xfrm>
          <a:prstGeom prst="ellipse">
            <a:avLst/>
          </a:prstGeom>
          <a:solidFill>
            <a:srgbClr val="226FBD">
              <a:alpha val="20000"/>
            </a:srgbClr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5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6325" y="7099846"/>
            <a:ext cx="876300" cy="876300"/>
          </a:xfrm>
          <a:prstGeom prst="ellipse">
            <a:avLst/>
          </a:prstGeom>
        </p:spPr>
      </p:pic>
      <p:sp>
        <p:nvSpPr>
          <p:cNvPr id="53" name="Text 45"/>
          <p:cNvSpPr/>
          <p:nvPr/>
        </p:nvSpPr>
        <p:spPr>
          <a:xfrm>
            <a:off x="2085975" y="7099846"/>
            <a:ext cx="480229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6296"/>
              </a:lnSpc>
              <a:buNone/>
            </a:pPr>
            <a:r>
              <a:rPr lang="en-US" sz="1500" b="1" dirty="0">
                <a:solidFill>
                  <a:srgbClr val="2533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Security &amp; Compliance Review</a:t>
            </a:r>
            <a:endParaRPr lang="en-US" sz="1500" dirty="0"/>
          </a:p>
        </p:txBody>
      </p:sp>
      <p:sp>
        <p:nvSpPr>
          <p:cNvPr id="54" name="Text 46"/>
          <p:cNvSpPr/>
          <p:nvPr/>
        </p:nvSpPr>
        <p:spPr>
          <a:xfrm>
            <a:off x="2085975" y="7347496"/>
            <a:ext cx="4802297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800"/>
              </a:lnSpc>
              <a:buNone/>
            </a:pPr>
            <a:r>
              <a:rPr lang="en-US" sz="1350" dirty="0">
                <a:solidFill>
                  <a:srgbClr val="25333A">
                    <a:alpha val="55000"/>
                  </a:srgbClr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Complete quarterly security review and address action items.</a:t>
            </a:r>
            <a:endParaRPr lang="en-US" sz="1350" dirty="0"/>
          </a:p>
        </p:txBody>
      </p:sp>
      <p:sp>
        <p:nvSpPr>
          <p:cNvPr id="55" name="Text 47"/>
          <p:cNvSpPr/>
          <p:nvPr/>
        </p:nvSpPr>
        <p:spPr>
          <a:xfrm>
            <a:off x="7871966" y="7330083"/>
            <a:ext cx="3340685" cy="2671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500"/>
              </a:lnSpc>
              <a:buNone/>
            </a:pPr>
            <a:r>
              <a:rPr lang="en-US" sz="1388" b="1" dirty="0">
                <a:solidFill>
                  <a:srgbClr val="2533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Riley Johnson</a:t>
            </a:r>
            <a:endParaRPr lang="en-US" sz="1388" dirty="0"/>
          </a:p>
        </p:txBody>
      </p:sp>
      <p:sp>
        <p:nvSpPr>
          <p:cNvPr id="56" name="Text 48"/>
          <p:cNvSpPr/>
          <p:nvPr/>
        </p:nvSpPr>
        <p:spPr>
          <a:xfrm>
            <a:off x="7871966" y="7559129"/>
            <a:ext cx="3340685" cy="224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25333A">
                    <a:alpha val="34000"/>
                  </a:srgbClr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Security Lead</a:t>
            </a:r>
            <a:endParaRPr lang="en-US" sz="1050" dirty="0"/>
          </a:p>
        </p:txBody>
      </p:sp>
      <p:sp>
        <p:nvSpPr>
          <p:cNvPr id="57" name="Text 49"/>
          <p:cNvSpPr/>
          <p:nvPr/>
        </p:nvSpPr>
        <p:spPr>
          <a:xfrm>
            <a:off x="11023253" y="7423398"/>
            <a:ext cx="3340685" cy="267146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92500"/>
              </a:lnSpc>
              <a:buNone/>
            </a:pPr>
            <a:r>
              <a:rPr lang="en-US" sz="1388" b="1" dirty="0">
                <a:solidFill>
                  <a:srgbClr val="25333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Dec 31, 2026</a:t>
            </a:r>
            <a:endParaRPr lang="en-US" sz="1388" dirty="0"/>
          </a:p>
        </p:txBody>
      </p:sp>
      <p:sp>
        <p:nvSpPr>
          <p:cNvPr id="58" name="Shape 50"/>
          <p:cNvSpPr/>
          <p:nvPr/>
        </p:nvSpPr>
        <p:spPr>
          <a:xfrm>
            <a:off x="14174539" y="7399883"/>
            <a:ext cx="852041" cy="276225"/>
          </a:xfrm>
          <a:prstGeom prst="roundRect">
            <a:avLst>
              <a:gd name="adj" fmla="val 50000"/>
            </a:avLst>
          </a:prstGeom>
          <a:solidFill>
            <a:srgbClr val="A9E5D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9" name="Text 51"/>
          <p:cNvSpPr/>
          <p:nvPr/>
        </p:nvSpPr>
        <p:spPr>
          <a:xfrm>
            <a:off x="14307889" y="7466558"/>
            <a:ext cx="661541" cy="1809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71429"/>
              </a:lnSpc>
              <a:buNone/>
            </a:pPr>
            <a:r>
              <a:rPr lang="en-US" sz="1125" b="1" kern="0" spc="22" dirty="0">
                <a:solidFill>
                  <a:srgbClr val="0A5A4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Planned</a:t>
            </a:r>
            <a:endParaRPr lang="en-US" sz="1125" dirty="0"/>
          </a:p>
        </p:txBody>
      </p:sp>
      <p:sp>
        <p:nvSpPr>
          <p:cNvPr id="60" name="Shape 52"/>
          <p:cNvSpPr/>
          <p:nvPr/>
        </p:nvSpPr>
        <p:spPr>
          <a:xfrm>
            <a:off x="838200" y="8366671"/>
            <a:ext cx="16611600" cy="691455"/>
          </a:xfrm>
          <a:prstGeom prst="roundRect">
            <a:avLst>
              <a:gd name="adj" fmla="val 16530"/>
            </a:avLst>
          </a:prstGeom>
          <a:solidFill>
            <a:srgbClr val="25333A">
              <a:alpha val="3000"/>
            </a:srgb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1" name="Text 53"/>
          <p:cNvSpPr/>
          <p:nvPr/>
        </p:nvSpPr>
        <p:spPr>
          <a:xfrm>
            <a:off x="1066800" y="8612386"/>
            <a:ext cx="116205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5" b="1" kern="0" spc="56" dirty="0">
                <a:solidFill>
                  <a:srgbClr val="25333A">
                    <a:alpha val="55000"/>
                  </a:srgbClr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STATUS LEGEND</a:t>
            </a:r>
            <a:endParaRPr lang="en-US" sz="1125" dirty="0"/>
          </a:p>
        </p:txBody>
      </p:sp>
      <p:sp>
        <p:nvSpPr>
          <p:cNvPr id="62" name="Shape 54"/>
          <p:cNvSpPr/>
          <p:nvPr/>
        </p:nvSpPr>
        <p:spPr>
          <a:xfrm>
            <a:off x="2495550" y="8664773"/>
            <a:ext cx="95250" cy="95250"/>
          </a:xfrm>
          <a:prstGeom prst="ellipse">
            <a:avLst/>
          </a:prstGeom>
          <a:solidFill>
            <a:srgbClr val="007F8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3" name="Text 55"/>
          <p:cNvSpPr/>
          <p:nvPr/>
        </p:nvSpPr>
        <p:spPr>
          <a:xfrm>
            <a:off x="2686050" y="8519071"/>
            <a:ext cx="155247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7500"/>
              </a:lnSpc>
              <a:buNone/>
            </a:pPr>
            <a:r>
              <a:rPr lang="en-US" sz="1313" b="1" dirty="0">
                <a:solidFill>
                  <a:srgbClr val="007F8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On Track</a:t>
            </a:r>
            <a:endParaRPr lang="en-US" sz="1313" dirty="0"/>
          </a:p>
        </p:txBody>
      </p:sp>
      <p:sp>
        <p:nvSpPr>
          <p:cNvPr id="64" name="Text 56"/>
          <p:cNvSpPr/>
          <p:nvPr/>
        </p:nvSpPr>
        <p:spPr>
          <a:xfrm>
            <a:off x="2686050" y="8719096"/>
            <a:ext cx="1552471" cy="224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25333A">
                    <a:alpha val="34000"/>
                  </a:srgbClr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On schedule and healthy</a:t>
            </a:r>
            <a:endParaRPr lang="en-US" sz="1050" dirty="0"/>
          </a:p>
        </p:txBody>
      </p:sp>
      <p:sp>
        <p:nvSpPr>
          <p:cNvPr id="65" name="Shape 57"/>
          <p:cNvSpPr/>
          <p:nvPr/>
        </p:nvSpPr>
        <p:spPr>
          <a:xfrm>
            <a:off x="4440287" y="8664773"/>
            <a:ext cx="95250" cy="95250"/>
          </a:xfrm>
          <a:prstGeom prst="ellipse">
            <a:avLst/>
          </a:prstGeom>
          <a:solidFill>
            <a:srgbClr val="226FBD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6" name="Text 58"/>
          <p:cNvSpPr/>
          <p:nvPr/>
        </p:nvSpPr>
        <p:spPr>
          <a:xfrm>
            <a:off x="4630787" y="8519071"/>
            <a:ext cx="168900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7500"/>
              </a:lnSpc>
              <a:buNone/>
            </a:pPr>
            <a:r>
              <a:rPr lang="en-US" sz="1313" b="1" dirty="0">
                <a:solidFill>
                  <a:srgbClr val="226FB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 Progress</a:t>
            </a:r>
            <a:endParaRPr lang="en-US" sz="1313" dirty="0"/>
          </a:p>
        </p:txBody>
      </p:sp>
      <p:sp>
        <p:nvSpPr>
          <p:cNvPr id="67" name="Text 59"/>
          <p:cNvSpPr/>
          <p:nvPr/>
        </p:nvSpPr>
        <p:spPr>
          <a:xfrm>
            <a:off x="4630787" y="8719096"/>
            <a:ext cx="1689006" cy="224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25333A">
                    <a:alpha val="34000"/>
                  </a:srgbClr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Active and moving forward</a:t>
            </a:r>
            <a:endParaRPr lang="en-US" sz="1050" dirty="0"/>
          </a:p>
        </p:txBody>
      </p:sp>
      <p:sp>
        <p:nvSpPr>
          <p:cNvPr id="68" name="Shape 60"/>
          <p:cNvSpPr/>
          <p:nvPr/>
        </p:nvSpPr>
        <p:spPr>
          <a:xfrm>
            <a:off x="6509147" y="8664773"/>
            <a:ext cx="95250" cy="95250"/>
          </a:xfrm>
          <a:prstGeom prst="ellipse">
            <a:avLst/>
          </a:prstGeom>
          <a:solidFill>
            <a:srgbClr val="7462A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9" name="Text 61"/>
          <p:cNvSpPr/>
          <p:nvPr/>
        </p:nvSpPr>
        <p:spPr>
          <a:xfrm>
            <a:off x="6699647" y="8519071"/>
            <a:ext cx="169735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7500"/>
              </a:lnSpc>
              <a:buNone/>
            </a:pPr>
            <a:r>
              <a:rPr lang="en-US" sz="1313" b="1" dirty="0">
                <a:solidFill>
                  <a:srgbClr val="7462A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At Risk</a:t>
            </a:r>
            <a:endParaRPr lang="en-US" sz="1313" dirty="0"/>
          </a:p>
        </p:txBody>
      </p:sp>
      <p:sp>
        <p:nvSpPr>
          <p:cNvPr id="70" name="Text 62"/>
          <p:cNvSpPr/>
          <p:nvPr/>
        </p:nvSpPr>
        <p:spPr>
          <a:xfrm>
            <a:off x="6699647" y="8719096"/>
            <a:ext cx="1697355" cy="224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25333A">
                    <a:alpha val="34000"/>
                  </a:srgbClr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Needs attention or support</a:t>
            </a:r>
            <a:endParaRPr lang="en-US" sz="1050" dirty="0"/>
          </a:p>
        </p:txBody>
      </p:sp>
      <p:sp>
        <p:nvSpPr>
          <p:cNvPr id="71" name="Shape 63"/>
          <p:cNvSpPr/>
          <p:nvPr/>
        </p:nvSpPr>
        <p:spPr>
          <a:xfrm>
            <a:off x="8585597" y="8664773"/>
            <a:ext cx="95250" cy="95250"/>
          </a:xfrm>
          <a:prstGeom prst="ellipse">
            <a:avLst/>
          </a:prstGeom>
          <a:solidFill>
            <a:srgbClr val="A9E5D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72" name="Text 64"/>
          <p:cNvSpPr/>
          <p:nvPr/>
        </p:nvSpPr>
        <p:spPr>
          <a:xfrm>
            <a:off x="8776097" y="8519071"/>
            <a:ext cx="92273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7500"/>
              </a:lnSpc>
              <a:buNone/>
            </a:pPr>
            <a:r>
              <a:rPr lang="en-US" sz="1313" b="1" dirty="0">
                <a:solidFill>
                  <a:srgbClr val="0A5A4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Planned</a:t>
            </a:r>
            <a:endParaRPr lang="en-US" sz="1313" dirty="0"/>
          </a:p>
        </p:txBody>
      </p:sp>
      <p:sp>
        <p:nvSpPr>
          <p:cNvPr id="73" name="Text 65"/>
          <p:cNvSpPr/>
          <p:nvPr/>
        </p:nvSpPr>
        <p:spPr>
          <a:xfrm>
            <a:off x="8776097" y="8719096"/>
            <a:ext cx="922734" cy="224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25333A">
                    <a:alpha val="34000"/>
                  </a:srgbClr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Not started yet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825" y="457200"/>
            <a:ext cx="2143125" cy="67523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76550" y="553789"/>
            <a:ext cx="3869799" cy="5200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4333"/>
              </a:lnSpc>
              <a:buNone/>
            </a:pPr>
            <a:r>
              <a:rPr lang="en-US" sz="3300" b="1" kern="0" spc="-33" dirty="0">
                <a:solidFill>
                  <a:srgbClr val="2533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Next Quarter Plan</a:t>
            </a:r>
            <a:endParaRPr lang="en-US" sz="3300" dirty="0"/>
          </a:p>
        </p:txBody>
      </p:sp>
      <p:sp>
        <p:nvSpPr>
          <p:cNvPr id="4" name="Shape 1"/>
          <p:cNvSpPr/>
          <p:nvPr/>
        </p:nvSpPr>
        <p:spPr>
          <a:xfrm>
            <a:off x="838200" y="1265783"/>
            <a:ext cx="533400" cy="28575"/>
          </a:xfrm>
          <a:prstGeom prst="rect">
            <a:avLst/>
          </a:prstGeom>
          <a:solidFill>
            <a:srgbClr val="007F8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Shape 2"/>
          <p:cNvSpPr/>
          <p:nvPr/>
        </p:nvSpPr>
        <p:spPr>
          <a:xfrm>
            <a:off x="838200" y="1542008"/>
            <a:ext cx="16611600" cy="6043613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9525">
            <a:solidFill>
              <a:srgbClr val="25333A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Shape 3"/>
          <p:cNvSpPr/>
          <p:nvPr/>
        </p:nvSpPr>
        <p:spPr>
          <a:xfrm>
            <a:off x="847725" y="1551533"/>
            <a:ext cx="16592550" cy="461963"/>
          </a:xfrm>
          <a:prstGeom prst="rect">
            <a:avLst/>
          </a:prstGeom>
          <a:solidFill>
            <a:srgbClr val="0F6B6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7" name="Text 4"/>
          <p:cNvSpPr/>
          <p:nvPr/>
        </p:nvSpPr>
        <p:spPr>
          <a:xfrm>
            <a:off x="1076325" y="1703933"/>
            <a:ext cx="4655284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1739"/>
              </a:lnSpc>
              <a:buNone/>
            </a:pPr>
            <a:r>
              <a:rPr lang="en-US" sz="1238" b="1" kern="0" spc="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WORKSTREAM</a:t>
            </a:r>
            <a:endParaRPr lang="en-US" sz="1238" dirty="0"/>
          </a:p>
        </p:txBody>
      </p:sp>
      <p:sp>
        <p:nvSpPr>
          <p:cNvPr id="8" name="Text 5"/>
          <p:cNvSpPr/>
          <p:nvPr/>
        </p:nvSpPr>
        <p:spPr>
          <a:xfrm>
            <a:off x="5308402" y="1703933"/>
            <a:ext cx="2909798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1739"/>
              </a:lnSpc>
              <a:buNone/>
            </a:pPr>
            <a:r>
              <a:rPr lang="en-US" sz="1238" b="1" kern="0" spc="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OCT 2026</a:t>
            </a:r>
            <a:endParaRPr lang="en-US" sz="1238" dirty="0"/>
          </a:p>
        </p:txBody>
      </p:sp>
      <p:sp>
        <p:nvSpPr>
          <p:cNvPr id="9" name="Text 6"/>
          <p:cNvSpPr/>
          <p:nvPr/>
        </p:nvSpPr>
        <p:spPr>
          <a:xfrm>
            <a:off x="7953673" y="1703933"/>
            <a:ext cx="2909634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1739"/>
              </a:lnSpc>
              <a:buNone/>
            </a:pPr>
            <a:r>
              <a:rPr lang="en-US" sz="1238" b="1" kern="0" spc="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NOV 2026</a:t>
            </a:r>
            <a:endParaRPr lang="en-US" sz="1238" dirty="0"/>
          </a:p>
        </p:txBody>
      </p:sp>
      <p:sp>
        <p:nvSpPr>
          <p:cNvPr id="10" name="Text 7"/>
          <p:cNvSpPr/>
          <p:nvPr/>
        </p:nvSpPr>
        <p:spPr>
          <a:xfrm>
            <a:off x="10598795" y="1703933"/>
            <a:ext cx="2909634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1739"/>
              </a:lnSpc>
              <a:buNone/>
            </a:pPr>
            <a:r>
              <a:rPr lang="en-US" sz="1238" b="1" kern="0" spc="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DEC 2026</a:t>
            </a:r>
            <a:endParaRPr lang="en-US" sz="1238" dirty="0"/>
          </a:p>
        </p:txBody>
      </p:sp>
      <p:sp>
        <p:nvSpPr>
          <p:cNvPr id="11" name="Text 8"/>
          <p:cNvSpPr/>
          <p:nvPr/>
        </p:nvSpPr>
        <p:spPr>
          <a:xfrm>
            <a:off x="13243917" y="1703933"/>
            <a:ext cx="4364534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1739"/>
              </a:lnSpc>
              <a:buNone/>
            </a:pPr>
            <a:r>
              <a:rPr lang="en-US" sz="1238" b="1" kern="0" spc="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EXPECTED OUTCOMES</a:t>
            </a:r>
            <a:endParaRPr lang="en-US" sz="1238" dirty="0"/>
          </a:p>
        </p:txBody>
      </p:sp>
      <p:sp>
        <p:nvSpPr>
          <p:cNvPr id="12" name="Shape 9"/>
          <p:cNvSpPr/>
          <p:nvPr/>
        </p:nvSpPr>
        <p:spPr>
          <a:xfrm>
            <a:off x="847725" y="3118396"/>
            <a:ext cx="16592550" cy="9525"/>
          </a:xfrm>
          <a:prstGeom prst="rect">
            <a:avLst/>
          </a:prstGeom>
          <a:solidFill>
            <a:srgbClr val="25333A">
              <a:alpha val="8000"/>
            </a:srgb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3" name="Shape 10"/>
          <p:cNvSpPr/>
          <p:nvPr/>
        </p:nvSpPr>
        <p:spPr>
          <a:xfrm>
            <a:off x="1076325" y="2165896"/>
            <a:ext cx="800100" cy="800100"/>
          </a:xfrm>
          <a:prstGeom prst="ellipse">
            <a:avLst/>
          </a:prstGeom>
          <a:solidFill>
            <a:srgbClr val="A9E5D3">
              <a:alpha val="38000"/>
            </a:srgbClr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6325" y="2165896"/>
            <a:ext cx="800100" cy="800100"/>
          </a:xfrm>
          <a:prstGeom prst="ellipse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990725" y="2165896"/>
            <a:ext cx="2039347" cy="273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425" b="1" dirty="0">
                <a:solidFill>
                  <a:srgbClr val="2533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AI Adoption</a:t>
            </a:r>
            <a:endParaRPr lang="en-US" sz="1425" dirty="0"/>
          </a:p>
        </p:txBody>
      </p:sp>
      <p:sp>
        <p:nvSpPr>
          <p:cNvPr id="16" name="Text 12"/>
          <p:cNvSpPr/>
          <p:nvPr/>
        </p:nvSpPr>
        <p:spPr>
          <a:xfrm>
            <a:off x="1990725" y="2401044"/>
            <a:ext cx="2039347" cy="256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625"/>
              </a:lnSpc>
              <a:buNone/>
            </a:pPr>
            <a:r>
              <a:rPr lang="en-US" sz="1275" dirty="0">
                <a:solidFill>
                  <a:srgbClr val="25333A">
                    <a:alpha val="55000"/>
                  </a:srgbClr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Scale usage and drive value</a:t>
            </a:r>
            <a:endParaRPr lang="en-US" sz="1275" dirty="0"/>
          </a:p>
        </p:txBody>
      </p:sp>
      <p:sp>
        <p:nvSpPr>
          <p:cNvPr id="17" name="Shape 13"/>
          <p:cNvSpPr/>
          <p:nvPr/>
        </p:nvSpPr>
        <p:spPr>
          <a:xfrm>
            <a:off x="5303788" y="2439739"/>
            <a:ext cx="2267545" cy="252413"/>
          </a:xfrm>
          <a:prstGeom prst="roundRect">
            <a:avLst>
              <a:gd name="adj" fmla="val 50000"/>
            </a:avLst>
          </a:prstGeom>
          <a:solidFill>
            <a:srgbClr val="007F8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8" name="Text 14"/>
          <p:cNvSpPr/>
          <p:nvPr/>
        </p:nvSpPr>
        <p:spPr>
          <a:xfrm>
            <a:off x="5399038" y="2496889"/>
            <a:ext cx="2153245" cy="17621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76316"/>
              </a:lnSpc>
              <a:buNone/>
            </a:pPr>
            <a:r>
              <a:rPr lang="en-US" sz="1088" b="1" kern="0" spc="22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Launch role-based AI prompts</a:t>
            </a:r>
            <a:endParaRPr lang="en-US" sz="1088" dirty="0"/>
          </a:p>
        </p:txBody>
      </p:sp>
      <p:sp>
        <p:nvSpPr>
          <p:cNvPr id="19" name="Shape 15"/>
          <p:cNvSpPr/>
          <p:nvPr/>
        </p:nvSpPr>
        <p:spPr>
          <a:xfrm>
            <a:off x="7981652" y="2439739"/>
            <a:ext cx="2072580" cy="252413"/>
          </a:xfrm>
          <a:prstGeom prst="roundRect">
            <a:avLst>
              <a:gd name="adj" fmla="val 50000"/>
            </a:avLst>
          </a:prstGeom>
          <a:solidFill>
            <a:srgbClr val="0F6B6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0" name="Text 16"/>
          <p:cNvSpPr/>
          <p:nvPr/>
        </p:nvSpPr>
        <p:spPr>
          <a:xfrm>
            <a:off x="8076902" y="2496889"/>
            <a:ext cx="1958280" cy="17621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76316"/>
              </a:lnSpc>
              <a:buNone/>
            </a:pPr>
            <a:r>
              <a:rPr lang="en-US" sz="1088" b="1" kern="0" spc="22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Expand to additional teams</a:t>
            </a:r>
            <a:endParaRPr lang="en-US" sz="1088" dirty="0"/>
          </a:p>
        </p:txBody>
      </p:sp>
      <p:sp>
        <p:nvSpPr>
          <p:cNvPr id="21" name="Shape 17"/>
          <p:cNvSpPr/>
          <p:nvPr/>
        </p:nvSpPr>
        <p:spPr>
          <a:xfrm>
            <a:off x="10659666" y="2439739"/>
            <a:ext cx="2104430" cy="252413"/>
          </a:xfrm>
          <a:prstGeom prst="roundRect">
            <a:avLst>
              <a:gd name="adj" fmla="val 50000"/>
            </a:avLst>
          </a:prstGeom>
          <a:solidFill>
            <a:srgbClr val="007F83">
              <a:alpha val="13000"/>
            </a:srgbClr>
          </a:solidFill>
          <a:ln w="9525">
            <a:solidFill>
              <a:srgbClr val="007F83"/>
            </a:solidFill>
            <a:prstDash val="dash"/>
          </a:ln>
        </p:spPr>
        <p:txBody>
          <a:bodyPr/>
          <a:lstStyle/>
          <a:p>
            <a:endParaRPr lang="de-DE"/>
          </a:p>
        </p:txBody>
      </p:sp>
      <p:sp>
        <p:nvSpPr>
          <p:cNvPr id="22" name="Text 18"/>
          <p:cNvSpPr/>
          <p:nvPr/>
        </p:nvSpPr>
        <p:spPr>
          <a:xfrm>
            <a:off x="10764441" y="2496889"/>
            <a:ext cx="1971080" cy="17621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76316"/>
              </a:lnSpc>
              <a:buNone/>
            </a:pPr>
            <a:r>
              <a:rPr lang="en-US" sz="1088" b="1" kern="0" spc="22" dirty="0">
                <a:solidFill>
                  <a:srgbClr val="00666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Optimize &amp; measure impact</a:t>
            </a:r>
            <a:endParaRPr lang="en-US" sz="1088" dirty="0"/>
          </a:p>
        </p:txBody>
      </p:sp>
      <p:sp>
        <p:nvSpPr>
          <p:cNvPr id="23" name="Text 19"/>
          <p:cNvSpPr/>
          <p:nvPr/>
        </p:nvSpPr>
        <p:spPr>
          <a:xfrm>
            <a:off x="13337530" y="2449264"/>
            <a:ext cx="4261559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313" dirty="0">
                <a:solidFill>
                  <a:srgbClr val="25333A">
                    <a:alpha val="70000"/>
                  </a:srgbClr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Higher AI usage and measurable productivity gains</a:t>
            </a:r>
            <a:endParaRPr lang="en-US" sz="1313" dirty="0"/>
          </a:p>
        </p:txBody>
      </p:sp>
      <p:sp>
        <p:nvSpPr>
          <p:cNvPr id="24" name="Shape 20"/>
          <p:cNvSpPr/>
          <p:nvPr/>
        </p:nvSpPr>
        <p:spPr>
          <a:xfrm>
            <a:off x="847725" y="4232821"/>
            <a:ext cx="16592550" cy="9525"/>
          </a:xfrm>
          <a:prstGeom prst="rect">
            <a:avLst/>
          </a:prstGeom>
          <a:solidFill>
            <a:srgbClr val="25333A">
              <a:alpha val="8000"/>
            </a:srgb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5" name="Shape 21"/>
          <p:cNvSpPr/>
          <p:nvPr/>
        </p:nvSpPr>
        <p:spPr>
          <a:xfrm>
            <a:off x="1076325" y="3280321"/>
            <a:ext cx="800100" cy="800100"/>
          </a:xfrm>
          <a:prstGeom prst="ellipse">
            <a:avLst/>
          </a:prstGeom>
          <a:solidFill>
            <a:srgbClr val="226FBD">
              <a:alpha val="20000"/>
            </a:srgbClr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6325" y="3280321"/>
            <a:ext cx="800100" cy="800100"/>
          </a:xfrm>
          <a:prstGeom prst="ellipse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1990725" y="3280321"/>
            <a:ext cx="2520494" cy="273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425" b="1" dirty="0">
                <a:solidFill>
                  <a:srgbClr val="2533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Data &amp; Insights</a:t>
            </a:r>
            <a:endParaRPr lang="en-US" sz="1425" dirty="0"/>
          </a:p>
        </p:txBody>
      </p:sp>
      <p:sp>
        <p:nvSpPr>
          <p:cNvPr id="28" name="Text 23"/>
          <p:cNvSpPr/>
          <p:nvPr/>
        </p:nvSpPr>
        <p:spPr>
          <a:xfrm>
            <a:off x="1990725" y="3515469"/>
            <a:ext cx="2520494" cy="256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625"/>
              </a:lnSpc>
              <a:buNone/>
            </a:pPr>
            <a:r>
              <a:rPr lang="en-US" sz="1275" dirty="0">
                <a:solidFill>
                  <a:srgbClr val="25333A">
                    <a:alpha val="55000"/>
                  </a:srgbClr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Improve data quality and visibility</a:t>
            </a:r>
            <a:endParaRPr lang="en-US" sz="1275" dirty="0"/>
          </a:p>
        </p:txBody>
      </p:sp>
      <p:sp>
        <p:nvSpPr>
          <p:cNvPr id="29" name="Shape 24"/>
          <p:cNvSpPr/>
          <p:nvPr/>
        </p:nvSpPr>
        <p:spPr>
          <a:xfrm>
            <a:off x="5303788" y="3554164"/>
            <a:ext cx="1424583" cy="252413"/>
          </a:xfrm>
          <a:prstGeom prst="roundRect">
            <a:avLst>
              <a:gd name="adj" fmla="val 50000"/>
            </a:avLst>
          </a:prstGeom>
          <a:solidFill>
            <a:srgbClr val="226FBD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0" name="Text 25"/>
          <p:cNvSpPr/>
          <p:nvPr/>
        </p:nvSpPr>
        <p:spPr>
          <a:xfrm>
            <a:off x="5399038" y="3611314"/>
            <a:ext cx="1310283" cy="17621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76316"/>
              </a:lnSpc>
              <a:buNone/>
            </a:pPr>
            <a:r>
              <a:rPr lang="en-US" sz="1088" b="1" kern="0" spc="22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Data quality audit</a:t>
            </a:r>
            <a:endParaRPr lang="en-US" sz="1088" dirty="0"/>
          </a:p>
        </p:txBody>
      </p:sp>
      <p:sp>
        <p:nvSpPr>
          <p:cNvPr id="31" name="Shape 26"/>
          <p:cNvSpPr/>
          <p:nvPr/>
        </p:nvSpPr>
        <p:spPr>
          <a:xfrm>
            <a:off x="7981652" y="3554164"/>
            <a:ext cx="2351782" cy="252413"/>
          </a:xfrm>
          <a:prstGeom prst="roundRect">
            <a:avLst>
              <a:gd name="adj" fmla="val 50000"/>
            </a:avLst>
          </a:prstGeom>
          <a:solidFill>
            <a:srgbClr val="226FBD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2" name="Text 27"/>
          <p:cNvSpPr/>
          <p:nvPr/>
        </p:nvSpPr>
        <p:spPr>
          <a:xfrm>
            <a:off x="8076902" y="3611314"/>
            <a:ext cx="2237482" cy="17621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76316"/>
              </a:lnSpc>
              <a:buNone/>
            </a:pPr>
            <a:r>
              <a:rPr lang="en-US" sz="1088" b="1" kern="0" spc="22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Cleanse &amp; standardize key data</a:t>
            </a:r>
            <a:endParaRPr lang="en-US" sz="1088" dirty="0"/>
          </a:p>
        </p:txBody>
      </p:sp>
      <p:sp>
        <p:nvSpPr>
          <p:cNvPr id="33" name="Shape 28"/>
          <p:cNvSpPr/>
          <p:nvPr/>
        </p:nvSpPr>
        <p:spPr>
          <a:xfrm>
            <a:off x="10659666" y="3554164"/>
            <a:ext cx="2178248" cy="252413"/>
          </a:xfrm>
          <a:prstGeom prst="roundRect">
            <a:avLst>
              <a:gd name="adj" fmla="val 50000"/>
            </a:avLst>
          </a:prstGeom>
          <a:solidFill>
            <a:srgbClr val="226FBD">
              <a:alpha val="13000"/>
            </a:srgbClr>
          </a:solidFill>
          <a:ln w="9525">
            <a:solidFill>
              <a:srgbClr val="226FBD"/>
            </a:solidFill>
            <a:prstDash val="dash"/>
          </a:ln>
        </p:spPr>
        <p:txBody>
          <a:bodyPr/>
          <a:lstStyle/>
          <a:p>
            <a:endParaRPr lang="de-DE"/>
          </a:p>
        </p:txBody>
      </p:sp>
      <p:sp>
        <p:nvSpPr>
          <p:cNvPr id="34" name="Text 29"/>
          <p:cNvSpPr/>
          <p:nvPr/>
        </p:nvSpPr>
        <p:spPr>
          <a:xfrm>
            <a:off x="10764441" y="3611314"/>
            <a:ext cx="2044898" cy="17621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76316"/>
              </a:lnSpc>
              <a:buNone/>
            </a:pPr>
            <a:r>
              <a:rPr lang="en-US" sz="1088" b="1" kern="0" spc="22" dirty="0">
                <a:solidFill>
                  <a:srgbClr val="1D5A9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Improve insights &amp; reporting</a:t>
            </a:r>
            <a:endParaRPr lang="en-US" sz="1088" dirty="0"/>
          </a:p>
        </p:txBody>
      </p:sp>
      <p:sp>
        <p:nvSpPr>
          <p:cNvPr id="35" name="Text 30"/>
          <p:cNvSpPr/>
          <p:nvPr/>
        </p:nvSpPr>
        <p:spPr>
          <a:xfrm>
            <a:off x="13337530" y="3563689"/>
            <a:ext cx="4261559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313" dirty="0">
                <a:solidFill>
                  <a:srgbClr val="25333A">
                    <a:alpha val="70000"/>
                  </a:srgbClr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Better data quality and more accurate insights</a:t>
            </a:r>
            <a:endParaRPr lang="en-US" sz="1313" dirty="0"/>
          </a:p>
        </p:txBody>
      </p:sp>
      <p:sp>
        <p:nvSpPr>
          <p:cNvPr id="36" name="Shape 31"/>
          <p:cNvSpPr/>
          <p:nvPr/>
        </p:nvSpPr>
        <p:spPr>
          <a:xfrm>
            <a:off x="847725" y="5347246"/>
            <a:ext cx="16592550" cy="9525"/>
          </a:xfrm>
          <a:prstGeom prst="rect">
            <a:avLst/>
          </a:prstGeom>
          <a:solidFill>
            <a:srgbClr val="25333A">
              <a:alpha val="8000"/>
            </a:srgb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7" name="Shape 32"/>
          <p:cNvSpPr/>
          <p:nvPr/>
        </p:nvSpPr>
        <p:spPr>
          <a:xfrm>
            <a:off x="1076325" y="4394746"/>
            <a:ext cx="800100" cy="800100"/>
          </a:xfrm>
          <a:prstGeom prst="ellipse">
            <a:avLst/>
          </a:prstGeom>
          <a:solidFill>
            <a:srgbClr val="A9E5D3">
              <a:alpha val="38000"/>
            </a:srgbClr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3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6325" y="4394746"/>
            <a:ext cx="800100" cy="800100"/>
          </a:xfrm>
          <a:prstGeom prst="ellipse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1990725" y="4394746"/>
            <a:ext cx="2778666" cy="273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425" b="1" dirty="0">
                <a:solidFill>
                  <a:srgbClr val="2533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Platform &amp; Integrations</a:t>
            </a:r>
            <a:endParaRPr lang="en-US" sz="1425" dirty="0"/>
          </a:p>
        </p:txBody>
      </p:sp>
      <p:sp>
        <p:nvSpPr>
          <p:cNvPr id="40" name="Text 34"/>
          <p:cNvSpPr/>
          <p:nvPr/>
        </p:nvSpPr>
        <p:spPr>
          <a:xfrm>
            <a:off x="1990725" y="4629894"/>
            <a:ext cx="2778666" cy="256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625"/>
              </a:lnSpc>
              <a:buNone/>
            </a:pPr>
            <a:r>
              <a:rPr lang="en-US" sz="1275" dirty="0">
                <a:solidFill>
                  <a:srgbClr val="25333A">
                    <a:alpha val="55000"/>
                  </a:srgbClr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Strengthen platform and connections</a:t>
            </a:r>
            <a:endParaRPr lang="en-US" sz="1275" dirty="0"/>
          </a:p>
        </p:txBody>
      </p:sp>
      <p:sp>
        <p:nvSpPr>
          <p:cNvPr id="41" name="Shape 35"/>
          <p:cNvSpPr/>
          <p:nvPr/>
        </p:nvSpPr>
        <p:spPr>
          <a:xfrm>
            <a:off x="5303788" y="4668589"/>
            <a:ext cx="2555379" cy="252413"/>
          </a:xfrm>
          <a:prstGeom prst="roundRect">
            <a:avLst>
              <a:gd name="adj" fmla="val 50000"/>
            </a:avLst>
          </a:prstGeom>
          <a:solidFill>
            <a:srgbClr val="0F6B6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2" name="Text 36"/>
          <p:cNvSpPr/>
          <p:nvPr/>
        </p:nvSpPr>
        <p:spPr>
          <a:xfrm>
            <a:off x="5399038" y="4725739"/>
            <a:ext cx="2441540" cy="17621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76316"/>
              </a:lnSpc>
              <a:buNone/>
            </a:pPr>
            <a:r>
              <a:rPr lang="en-US" sz="1088" b="1" kern="0" spc="22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Complete CRM bi-directional sync</a:t>
            </a:r>
            <a:endParaRPr lang="en-US" sz="1088" dirty="0"/>
          </a:p>
        </p:txBody>
      </p:sp>
      <p:sp>
        <p:nvSpPr>
          <p:cNvPr id="43" name="Shape 37"/>
          <p:cNvSpPr/>
          <p:nvPr/>
        </p:nvSpPr>
        <p:spPr>
          <a:xfrm>
            <a:off x="7981652" y="4668589"/>
            <a:ext cx="1883122" cy="252413"/>
          </a:xfrm>
          <a:prstGeom prst="roundRect">
            <a:avLst>
              <a:gd name="adj" fmla="val 50000"/>
            </a:avLst>
          </a:prstGeom>
          <a:solidFill>
            <a:srgbClr val="0F6B6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4" name="Text 38"/>
          <p:cNvSpPr/>
          <p:nvPr/>
        </p:nvSpPr>
        <p:spPr>
          <a:xfrm>
            <a:off x="8076902" y="4725739"/>
            <a:ext cx="1768822" cy="17621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76316"/>
              </a:lnSpc>
              <a:buNone/>
            </a:pPr>
            <a:r>
              <a:rPr lang="en-US" sz="1088" b="1" kern="0" spc="22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Automate key workflows</a:t>
            </a:r>
            <a:endParaRPr lang="en-US" sz="1088" dirty="0"/>
          </a:p>
        </p:txBody>
      </p:sp>
      <p:sp>
        <p:nvSpPr>
          <p:cNvPr id="45" name="Shape 39"/>
          <p:cNvSpPr/>
          <p:nvPr/>
        </p:nvSpPr>
        <p:spPr>
          <a:xfrm>
            <a:off x="10659666" y="4668589"/>
            <a:ext cx="1724025" cy="252413"/>
          </a:xfrm>
          <a:prstGeom prst="roundRect">
            <a:avLst>
              <a:gd name="adj" fmla="val 50000"/>
            </a:avLst>
          </a:prstGeom>
          <a:solidFill>
            <a:srgbClr val="0F6B6E">
              <a:alpha val="13000"/>
            </a:srgbClr>
          </a:solidFill>
          <a:ln w="9525">
            <a:solidFill>
              <a:srgbClr val="0F6B6E"/>
            </a:solidFill>
            <a:prstDash val="dash"/>
          </a:ln>
        </p:spPr>
        <p:txBody>
          <a:bodyPr/>
          <a:lstStyle/>
          <a:p>
            <a:endParaRPr lang="de-DE"/>
          </a:p>
        </p:txBody>
      </p:sp>
      <p:sp>
        <p:nvSpPr>
          <p:cNvPr id="46" name="Text 40"/>
          <p:cNvSpPr/>
          <p:nvPr/>
        </p:nvSpPr>
        <p:spPr>
          <a:xfrm>
            <a:off x="10764441" y="4725739"/>
            <a:ext cx="1590675" cy="17621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76316"/>
              </a:lnSpc>
              <a:buNone/>
            </a:pPr>
            <a:r>
              <a:rPr lang="en-US" sz="1088" b="1" kern="0" spc="22" dirty="0">
                <a:solidFill>
                  <a:srgbClr val="0F6B6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Optimize integrations</a:t>
            </a:r>
            <a:endParaRPr lang="en-US" sz="1088" dirty="0"/>
          </a:p>
        </p:txBody>
      </p:sp>
      <p:sp>
        <p:nvSpPr>
          <p:cNvPr id="47" name="Text 41"/>
          <p:cNvSpPr/>
          <p:nvPr/>
        </p:nvSpPr>
        <p:spPr>
          <a:xfrm>
            <a:off x="13337530" y="4678114"/>
            <a:ext cx="4261559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313" dirty="0">
                <a:solidFill>
                  <a:srgbClr val="25333A">
                    <a:alpha val="70000"/>
                  </a:srgbClr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Seamless workflows and reduced manual effort</a:t>
            </a:r>
            <a:endParaRPr lang="en-US" sz="1313" dirty="0"/>
          </a:p>
        </p:txBody>
      </p:sp>
      <p:sp>
        <p:nvSpPr>
          <p:cNvPr id="48" name="Shape 42"/>
          <p:cNvSpPr/>
          <p:nvPr/>
        </p:nvSpPr>
        <p:spPr>
          <a:xfrm>
            <a:off x="847725" y="6461671"/>
            <a:ext cx="16592550" cy="9525"/>
          </a:xfrm>
          <a:prstGeom prst="rect">
            <a:avLst/>
          </a:prstGeom>
          <a:solidFill>
            <a:srgbClr val="25333A">
              <a:alpha val="8000"/>
            </a:srgb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9" name="Shape 43"/>
          <p:cNvSpPr/>
          <p:nvPr/>
        </p:nvSpPr>
        <p:spPr>
          <a:xfrm>
            <a:off x="1076325" y="5509171"/>
            <a:ext cx="800100" cy="800100"/>
          </a:xfrm>
          <a:prstGeom prst="ellipse">
            <a:avLst/>
          </a:prstGeom>
          <a:solidFill>
            <a:srgbClr val="A9E5D3">
              <a:alpha val="38000"/>
            </a:srgbClr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5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6325" y="5509171"/>
            <a:ext cx="800100" cy="800100"/>
          </a:xfrm>
          <a:prstGeom prst="ellipse">
            <a:avLst/>
          </a:prstGeom>
        </p:spPr>
      </p:pic>
      <p:sp>
        <p:nvSpPr>
          <p:cNvPr id="51" name="Text 44"/>
          <p:cNvSpPr/>
          <p:nvPr/>
        </p:nvSpPr>
        <p:spPr>
          <a:xfrm>
            <a:off x="1990725" y="5509171"/>
            <a:ext cx="2245459" cy="273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425" b="1" dirty="0">
                <a:solidFill>
                  <a:srgbClr val="2533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Enablement</a:t>
            </a:r>
            <a:endParaRPr lang="en-US" sz="1425" dirty="0"/>
          </a:p>
        </p:txBody>
      </p:sp>
      <p:sp>
        <p:nvSpPr>
          <p:cNvPr id="52" name="Text 45"/>
          <p:cNvSpPr/>
          <p:nvPr/>
        </p:nvSpPr>
        <p:spPr>
          <a:xfrm>
            <a:off x="1990725" y="5744319"/>
            <a:ext cx="2245459" cy="256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625"/>
              </a:lnSpc>
              <a:buNone/>
            </a:pPr>
            <a:r>
              <a:rPr lang="en-US" sz="1275" dirty="0">
                <a:solidFill>
                  <a:srgbClr val="25333A">
                    <a:alpha val="55000"/>
                  </a:srgbClr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Build skills and drive adoption</a:t>
            </a:r>
            <a:endParaRPr lang="en-US" sz="1275" dirty="0"/>
          </a:p>
        </p:txBody>
      </p:sp>
      <p:sp>
        <p:nvSpPr>
          <p:cNvPr id="53" name="Shape 46"/>
          <p:cNvSpPr/>
          <p:nvPr/>
        </p:nvSpPr>
        <p:spPr>
          <a:xfrm>
            <a:off x="5303788" y="5783014"/>
            <a:ext cx="2060823" cy="252413"/>
          </a:xfrm>
          <a:prstGeom prst="roundRect">
            <a:avLst>
              <a:gd name="adj" fmla="val 50000"/>
            </a:avLst>
          </a:prstGeom>
          <a:solidFill>
            <a:srgbClr val="A9E5D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4" name="Text 47"/>
          <p:cNvSpPr/>
          <p:nvPr/>
        </p:nvSpPr>
        <p:spPr>
          <a:xfrm>
            <a:off x="5399038" y="5840164"/>
            <a:ext cx="1946523" cy="17621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76316"/>
              </a:lnSpc>
              <a:buNone/>
            </a:pPr>
            <a:r>
              <a:rPr lang="en-US" sz="1088" b="1" kern="0" spc="22" dirty="0">
                <a:solidFill>
                  <a:srgbClr val="0A5A4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Role-based training rollout</a:t>
            </a:r>
            <a:endParaRPr lang="en-US" sz="1088" dirty="0"/>
          </a:p>
        </p:txBody>
      </p:sp>
      <p:sp>
        <p:nvSpPr>
          <p:cNvPr id="55" name="Shape 48"/>
          <p:cNvSpPr/>
          <p:nvPr/>
        </p:nvSpPr>
        <p:spPr>
          <a:xfrm>
            <a:off x="7981652" y="5783014"/>
            <a:ext cx="1498550" cy="252413"/>
          </a:xfrm>
          <a:prstGeom prst="roundRect">
            <a:avLst>
              <a:gd name="adj" fmla="val 50000"/>
            </a:avLst>
          </a:prstGeom>
          <a:solidFill>
            <a:srgbClr val="A9E5D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6" name="Text 49"/>
          <p:cNvSpPr/>
          <p:nvPr/>
        </p:nvSpPr>
        <p:spPr>
          <a:xfrm>
            <a:off x="8076902" y="5840164"/>
            <a:ext cx="1384250" cy="17621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76316"/>
              </a:lnSpc>
              <a:buNone/>
            </a:pPr>
            <a:r>
              <a:rPr lang="en-US" sz="1088" b="1" kern="0" spc="22" dirty="0">
                <a:solidFill>
                  <a:srgbClr val="0A5A4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Office hours &amp; Q&amp;A</a:t>
            </a:r>
            <a:endParaRPr lang="en-US" sz="1088" dirty="0"/>
          </a:p>
        </p:txBody>
      </p:sp>
      <p:sp>
        <p:nvSpPr>
          <p:cNvPr id="57" name="Shape 50"/>
          <p:cNvSpPr/>
          <p:nvPr/>
        </p:nvSpPr>
        <p:spPr>
          <a:xfrm>
            <a:off x="10659666" y="5783014"/>
            <a:ext cx="2078534" cy="252413"/>
          </a:xfrm>
          <a:prstGeom prst="roundRect">
            <a:avLst>
              <a:gd name="adj" fmla="val 50000"/>
            </a:avLst>
          </a:prstGeom>
          <a:solidFill>
            <a:srgbClr val="A9E5D3">
              <a:alpha val="23000"/>
            </a:srgbClr>
          </a:solidFill>
          <a:ln w="9525">
            <a:solidFill>
              <a:srgbClr val="0A5A49"/>
            </a:solidFill>
            <a:prstDash val="dash"/>
          </a:ln>
        </p:spPr>
        <p:txBody>
          <a:bodyPr/>
          <a:lstStyle/>
          <a:p>
            <a:endParaRPr lang="de-DE"/>
          </a:p>
        </p:txBody>
      </p:sp>
      <p:sp>
        <p:nvSpPr>
          <p:cNvPr id="58" name="Text 51"/>
          <p:cNvSpPr/>
          <p:nvPr/>
        </p:nvSpPr>
        <p:spPr>
          <a:xfrm>
            <a:off x="10764441" y="5840164"/>
            <a:ext cx="1945184" cy="17621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76316"/>
              </a:lnSpc>
              <a:buNone/>
            </a:pPr>
            <a:r>
              <a:rPr lang="en-US" sz="1088" b="1" kern="0" spc="22" dirty="0">
                <a:solidFill>
                  <a:srgbClr val="0A5A4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Adoption pulse &amp; follow-up</a:t>
            </a:r>
            <a:endParaRPr lang="en-US" sz="1088" dirty="0"/>
          </a:p>
        </p:txBody>
      </p:sp>
      <p:sp>
        <p:nvSpPr>
          <p:cNvPr id="59" name="Text 52"/>
          <p:cNvSpPr/>
          <p:nvPr/>
        </p:nvSpPr>
        <p:spPr>
          <a:xfrm>
            <a:off x="13337530" y="5792539"/>
            <a:ext cx="4261559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313" dirty="0">
                <a:solidFill>
                  <a:srgbClr val="25333A">
                    <a:alpha val="70000"/>
                  </a:srgbClr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Stronger user confidence and higher adoption</a:t>
            </a:r>
            <a:endParaRPr lang="en-US" sz="1313" dirty="0"/>
          </a:p>
        </p:txBody>
      </p:sp>
      <p:sp>
        <p:nvSpPr>
          <p:cNvPr id="60" name="Shape 53"/>
          <p:cNvSpPr/>
          <p:nvPr/>
        </p:nvSpPr>
        <p:spPr>
          <a:xfrm>
            <a:off x="1076325" y="6623596"/>
            <a:ext cx="800100" cy="800100"/>
          </a:xfrm>
          <a:prstGeom prst="ellipse">
            <a:avLst/>
          </a:prstGeom>
          <a:solidFill>
            <a:srgbClr val="226FBD">
              <a:alpha val="20000"/>
            </a:srgbClr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6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6325" y="6623596"/>
            <a:ext cx="800100" cy="800100"/>
          </a:xfrm>
          <a:prstGeom prst="ellipse">
            <a:avLst/>
          </a:prstGeom>
        </p:spPr>
      </p:pic>
      <p:sp>
        <p:nvSpPr>
          <p:cNvPr id="62" name="Text 54"/>
          <p:cNvSpPr/>
          <p:nvPr/>
        </p:nvSpPr>
        <p:spPr>
          <a:xfrm>
            <a:off x="1990725" y="6623596"/>
            <a:ext cx="2357438" cy="273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425" b="1" dirty="0">
                <a:solidFill>
                  <a:srgbClr val="2533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Trust &amp; Security</a:t>
            </a:r>
            <a:endParaRPr lang="en-US" sz="1425" dirty="0"/>
          </a:p>
        </p:txBody>
      </p:sp>
      <p:sp>
        <p:nvSpPr>
          <p:cNvPr id="63" name="Text 55"/>
          <p:cNvSpPr/>
          <p:nvPr/>
        </p:nvSpPr>
        <p:spPr>
          <a:xfrm>
            <a:off x="1990725" y="6858744"/>
            <a:ext cx="2357438" cy="256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625"/>
              </a:lnSpc>
              <a:buNone/>
            </a:pPr>
            <a:r>
              <a:rPr lang="en-US" sz="1275" dirty="0">
                <a:solidFill>
                  <a:srgbClr val="25333A">
                    <a:alpha val="55000"/>
                  </a:srgbClr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Ensure security and compliance</a:t>
            </a:r>
            <a:endParaRPr lang="en-US" sz="1275" dirty="0"/>
          </a:p>
        </p:txBody>
      </p:sp>
      <p:sp>
        <p:nvSpPr>
          <p:cNvPr id="64" name="Shape 56"/>
          <p:cNvSpPr/>
          <p:nvPr/>
        </p:nvSpPr>
        <p:spPr>
          <a:xfrm>
            <a:off x="5303788" y="6897439"/>
            <a:ext cx="1268760" cy="252413"/>
          </a:xfrm>
          <a:prstGeom prst="roundRect">
            <a:avLst>
              <a:gd name="adj" fmla="val 50000"/>
            </a:avLst>
          </a:prstGeom>
          <a:solidFill>
            <a:srgbClr val="226FBD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5" name="Text 57"/>
          <p:cNvSpPr/>
          <p:nvPr/>
        </p:nvSpPr>
        <p:spPr>
          <a:xfrm>
            <a:off x="5399038" y="6954589"/>
            <a:ext cx="1154460" cy="17621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76316"/>
              </a:lnSpc>
              <a:buNone/>
            </a:pPr>
            <a:r>
              <a:rPr lang="en-US" sz="1088" b="1" kern="0" spc="22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Security review</a:t>
            </a:r>
            <a:endParaRPr lang="en-US" sz="1088" dirty="0"/>
          </a:p>
        </p:txBody>
      </p:sp>
      <p:sp>
        <p:nvSpPr>
          <p:cNvPr id="66" name="Shape 58"/>
          <p:cNvSpPr/>
          <p:nvPr/>
        </p:nvSpPr>
        <p:spPr>
          <a:xfrm>
            <a:off x="7981652" y="6897439"/>
            <a:ext cx="1654671" cy="252413"/>
          </a:xfrm>
          <a:prstGeom prst="roundRect">
            <a:avLst>
              <a:gd name="adj" fmla="val 50000"/>
            </a:avLst>
          </a:prstGeom>
          <a:solidFill>
            <a:srgbClr val="226FBD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7" name="Text 59"/>
          <p:cNvSpPr/>
          <p:nvPr/>
        </p:nvSpPr>
        <p:spPr>
          <a:xfrm>
            <a:off x="8076902" y="6954589"/>
            <a:ext cx="1540371" cy="17621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76316"/>
              </a:lnSpc>
              <a:buNone/>
            </a:pPr>
            <a:r>
              <a:rPr lang="en-US" sz="1088" b="1" kern="0" spc="22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Address action items</a:t>
            </a:r>
            <a:endParaRPr lang="en-US" sz="1088" dirty="0"/>
          </a:p>
        </p:txBody>
      </p:sp>
      <p:sp>
        <p:nvSpPr>
          <p:cNvPr id="68" name="Shape 60"/>
          <p:cNvSpPr/>
          <p:nvPr/>
        </p:nvSpPr>
        <p:spPr>
          <a:xfrm>
            <a:off x="10659666" y="6897439"/>
            <a:ext cx="2149227" cy="252413"/>
          </a:xfrm>
          <a:prstGeom prst="roundRect">
            <a:avLst>
              <a:gd name="adj" fmla="val 50000"/>
            </a:avLst>
          </a:prstGeom>
          <a:solidFill>
            <a:srgbClr val="226FBD">
              <a:alpha val="13000"/>
            </a:srgbClr>
          </a:solidFill>
          <a:ln w="9525">
            <a:solidFill>
              <a:srgbClr val="226FBD"/>
            </a:solidFill>
            <a:prstDash val="dash"/>
          </a:ln>
        </p:spPr>
        <p:txBody>
          <a:bodyPr/>
          <a:lstStyle/>
          <a:p>
            <a:endParaRPr lang="de-DE"/>
          </a:p>
        </p:txBody>
      </p:sp>
      <p:sp>
        <p:nvSpPr>
          <p:cNvPr id="69" name="Text 61"/>
          <p:cNvSpPr/>
          <p:nvPr/>
        </p:nvSpPr>
        <p:spPr>
          <a:xfrm>
            <a:off x="10764441" y="6954589"/>
            <a:ext cx="2015877" cy="17621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76316"/>
              </a:lnSpc>
              <a:buNone/>
            </a:pPr>
            <a:r>
              <a:rPr lang="en-US" sz="1088" b="1" kern="0" spc="22" dirty="0">
                <a:solidFill>
                  <a:srgbClr val="1D5A9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Quarterly compliance check</a:t>
            </a:r>
            <a:endParaRPr lang="en-US" sz="1088" dirty="0"/>
          </a:p>
        </p:txBody>
      </p:sp>
      <p:sp>
        <p:nvSpPr>
          <p:cNvPr id="70" name="Text 62"/>
          <p:cNvSpPr/>
          <p:nvPr/>
        </p:nvSpPr>
        <p:spPr>
          <a:xfrm>
            <a:off x="13337530" y="6906964"/>
            <a:ext cx="4261559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313" dirty="0">
                <a:solidFill>
                  <a:srgbClr val="25333A">
                    <a:alpha val="70000"/>
                  </a:srgbClr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Reduced risk and ongoing compliance</a:t>
            </a:r>
            <a:endParaRPr lang="en-US" sz="1313" dirty="0"/>
          </a:p>
        </p:txBody>
      </p:sp>
      <p:sp>
        <p:nvSpPr>
          <p:cNvPr id="71" name="Shape 63"/>
          <p:cNvSpPr/>
          <p:nvPr/>
        </p:nvSpPr>
        <p:spPr>
          <a:xfrm>
            <a:off x="838200" y="7795171"/>
            <a:ext cx="16611600" cy="691455"/>
          </a:xfrm>
          <a:prstGeom prst="roundRect">
            <a:avLst>
              <a:gd name="adj" fmla="val 16530"/>
            </a:avLst>
          </a:prstGeom>
          <a:solidFill>
            <a:srgbClr val="25333A">
              <a:alpha val="3000"/>
            </a:srgb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72" name="Shape 64"/>
          <p:cNvSpPr/>
          <p:nvPr/>
        </p:nvSpPr>
        <p:spPr>
          <a:xfrm>
            <a:off x="1066800" y="8074223"/>
            <a:ext cx="266700" cy="133350"/>
          </a:xfrm>
          <a:prstGeom prst="roundRect">
            <a:avLst>
              <a:gd name="adj" fmla="val 50000"/>
            </a:avLst>
          </a:prstGeom>
          <a:solidFill>
            <a:srgbClr val="0F6B6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73" name="Text 65"/>
          <p:cNvSpPr/>
          <p:nvPr/>
        </p:nvSpPr>
        <p:spPr>
          <a:xfrm>
            <a:off x="1447800" y="7947571"/>
            <a:ext cx="304829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7500"/>
              </a:lnSpc>
              <a:buNone/>
            </a:pPr>
            <a:r>
              <a:rPr lang="en-US" sz="1313" b="1" dirty="0">
                <a:solidFill>
                  <a:srgbClr val="2533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Planned Actions</a:t>
            </a:r>
            <a:endParaRPr lang="en-US" sz="1313" dirty="0"/>
          </a:p>
        </p:txBody>
      </p:sp>
      <p:sp>
        <p:nvSpPr>
          <p:cNvPr id="74" name="Text 66"/>
          <p:cNvSpPr/>
          <p:nvPr/>
        </p:nvSpPr>
        <p:spPr>
          <a:xfrm>
            <a:off x="1447800" y="8147596"/>
            <a:ext cx="3048298" cy="224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25333A">
                    <a:alpha val="34000"/>
                  </a:srgbClr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Time-bound initiatives with defined deliverables</a:t>
            </a:r>
            <a:endParaRPr lang="en-US" sz="1050" dirty="0"/>
          </a:p>
        </p:txBody>
      </p:sp>
      <p:sp>
        <p:nvSpPr>
          <p:cNvPr id="75" name="Shape 67"/>
          <p:cNvSpPr/>
          <p:nvPr/>
        </p:nvSpPr>
        <p:spPr>
          <a:xfrm>
            <a:off x="4599980" y="8055173"/>
            <a:ext cx="400050" cy="171450"/>
          </a:xfrm>
          <a:prstGeom prst="roundRect">
            <a:avLst>
              <a:gd name="adj" fmla="val 50000"/>
            </a:avLst>
          </a:prstGeom>
          <a:ln w="9525">
            <a:solidFill>
              <a:srgbClr val="0F6B6E"/>
            </a:solidFill>
            <a:prstDash val="dash"/>
          </a:ln>
        </p:spPr>
        <p:txBody>
          <a:bodyPr/>
          <a:lstStyle/>
          <a:p>
            <a:endParaRPr lang="de-DE"/>
          </a:p>
        </p:txBody>
      </p:sp>
      <p:sp>
        <p:nvSpPr>
          <p:cNvPr id="76" name="Text 68"/>
          <p:cNvSpPr/>
          <p:nvPr/>
        </p:nvSpPr>
        <p:spPr>
          <a:xfrm>
            <a:off x="5114330" y="7947571"/>
            <a:ext cx="347001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7500"/>
              </a:lnSpc>
              <a:buNone/>
            </a:pPr>
            <a:r>
              <a:rPr lang="en-US" sz="1313" b="1" dirty="0">
                <a:solidFill>
                  <a:srgbClr val="2533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Ongoing Commitments</a:t>
            </a:r>
            <a:endParaRPr lang="en-US" sz="1313" dirty="0"/>
          </a:p>
        </p:txBody>
      </p:sp>
      <p:sp>
        <p:nvSpPr>
          <p:cNvPr id="77" name="Text 69"/>
          <p:cNvSpPr/>
          <p:nvPr/>
        </p:nvSpPr>
        <p:spPr>
          <a:xfrm>
            <a:off x="5114330" y="8147596"/>
            <a:ext cx="3470017" cy="224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25333A">
                    <a:alpha val="34000"/>
                  </a:srgbClr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Continuous activities to sustain and optimize outcomes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825" y="457200"/>
            <a:ext cx="2143125" cy="67523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76550" y="586680"/>
            <a:ext cx="3742432" cy="4542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4038"/>
              </a:lnSpc>
              <a:buNone/>
            </a:pPr>
            <a:r>
              <a:rPr lang="en-US" sz="2850" b="1" kern="0" spc="-29" dirty="0">
                <a:solidFill>
                  <a:srgbClr val="2533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Executive Summary</a:t>
            </a:r>
            <a:endParaRPr lang="en-US" sz="2850" dirty="0"/>
          </a:p>
        </p:txBody>
      </p:sp>
      <p:sp>
        <p:nvSpPr>
          <p:cNvPr id="4" name="Text 1"/>
          <p:cNvSpPr/>
          <p:nvPr/>
        </p:nvSpPr>
        <p:spPr>
          <a:xfrm>
            <a:off x="2495550" y="1208633"/>
            <a:ext cx="16449675" cy="2981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7500"/>
              </a:lnSpc>
              <a:buNone/>
            </a:pPr>
            <a:r>
              <a:rPr lang="en-US" sz="1463" dirty="0">
                <a:solidFill>
                  <a:srgbClr val="25333A">
                    <a:alpha val="55000"/>
                  </a:srgbClr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What matters most this quarter.</a:t>
            </a:r>
            <a:endParaRPr lang="en-US" sz="1463" dirty="0"/>
          </a:p>
        </p:txBody>
      </p:sp>
      <p:sp>
        <p:nvSpPr>
          <p:cNvPr id="5" name="Shape 2"/>
          <p:cNvSpPr/>
          <p:nvPr/>
        </p:nvSpPr>
        <p:spPr>
          <a:xfrm>
            <a:off x="838200" y="1678186"/>
            <a:ext cx="5410200" cy="1276350"/>
          </a:xfrm>
          <a:prstGeom prst="roundRect">
            <a:avLst>
              <a:gd name="adj" fmla="val 10448"/>
            </a:avLst>
          </a:prstGeom>
          <a:solidFill>
            <a:srgbClr val="A9E5D3">
              <a:alpha val="33000"/>
            </a:srgbClr>
          </a:solidFill>
          <a:ln w="9525">
            <a:solidFill>
              <a:srgbClr val="007F83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Shape 3"/>
          <p:cNvSpPr/>
          <p:nvPr/>
        </p:nvSpPr>
        <p:spPr>
          <a:xfrm>
            <a:off x="1057275" y="1859161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7275" y="1859161"/>
            <a:ext cx="914400" cy="914400"/>
          </a:xfrm>
          <a:prstGeom prst="ellipse">
            <a:avLst/>
          </a:prstGeom>
        </p:spPr>
      </p:pic>
      <p:sp>
        <p:nvSpPr>
          <p:cNvPr id="8" name="Text 4"/>
          <p:cNvSpPr/>
          <p:nvPr/>
        </p:nvSpPr>
        <p:spPr>
          <a:xfrm>
            <a:off x="2105025" y="1859161"/>
            <a:ext cx="4316730" cy="2547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4792"/>
              </a:lnSpc>
              <a:buNone/>
            </a:pPr>
            <a:r>
              <a:rPr lang="en-US" sz="1313" b="1" dirty="0">
                <a:solidFill>
                  <a:srgbClr val="2533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Value Delivered</a:t>
            </a:r>
            <a:endParaRPr lang="en-US" sz="1313" dirty="0"/>
          </a:p>
        </p:txBody>
      </p:sp>
      <p:sp>
        <p:nvSpPr>
          <p:cNvPr id="9" name="Text 5"/>
          <p:cNvSpPr/>
          <p:nvPr/>
        </p:nvSpPr>
        <p:spPr>
          <a:xfrm>
            <a:off x="2105025" y="2113955"/>
            <a:ext cx="4042029" cy="5313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9615"/>
              </a:lnSpc>
              <a:buNone/>
            </a:pPr>
            <a:r>
              <a:rPr lang="en-US" sz="1388" dirty="0">
                <a:solidFill>
                  <a:srgbClr val="25333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Automated 62% of inbound tickets, cutting resolution time from 14h to 3.5h.</a:t>
            </a:r>
            <a:endParaRPr lang="en-US" sz="1388" dirty="0"/>
          </a:p>
        </p:txBody>
      </p:sp>
      <p:sp>
        <p:nvSpPr>
          <p:cNvPr id="10" name="Shape 6"/>
          <p:cNvSpPr/>
          <p:nvPr/>
        </p:nvSpPr>
        <p:spPr>
          <a:xfrm>
            <a:off x="6438900" y="1678186"/>
            <a:ext cx="5410200" cy="1276350"/>
          </a:xfrm>
          <a:prstGeom prst="roundRect">
            <a:avLst>
              <a:gd name="adj" fmla="val 10448"/>
            </a:avLst>
          </a:prstGeom>
          <a:solidFill>
            <a:srgbClr val="226FBD">
              <a:alpha val="16000"/>
            </a:srgbClr>
          </a:solidFill>
          <a:ln w="9525">
            <a:solidFill>
              <a:srgbClr val="226FBD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Shape 7"/>
          <p:cNvSpPr/>
          <p:nvPr/>
        </p:nvSpPr>
        <p:spPr>
          <a:xfrm>
            <a:off x="6657975" y="1859161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7975" y="1859161"/>
            <a:ext cx="914400" cy="914400"/>
          </a:xfrm>
          <a:prstGeom prst="ellipse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705725" y="1859161"/>
            <a:ext cx="4316730" cy="2547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4792"/>
              </a:lnSpc>
              <a:buNone/>
            </a:pPr>
            <a:r>
              <a:rPr lang="en-US" sz="1313" b="1" dirty="0">
                <a:solidFill>
                  <a:srgbClr val="2533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Adoption &amp; Engagement</a:t>
            </a:r>
            <a:endParaRPr lang="en-US" sz="1313" dirty="0"/>
          </a:p>
        </p:txBody>
      </p:sp>
      <p:sp>
        <p:nvSpPr>
          <p:cNvPr id="14" name="Text 9"/>
          <p:cNvSpPr/>
          <p:nvPr/>
        </p:nvSpPr>
        <p:spPr>
          <a:xfrm>
            <a:off x="7705725" y="2113955"/>
            <a:ext cx="4042029" cy="5313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9615"/>
              </a:lnSpc>
              <a:buNone/>
            </a:pPr>
            <a:r>
              <a:rPr lang="en-US" sz="1388" dirty="0">
                <a:solidFill>
                  <a:srgbClr val="25333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57% weekly active usage across 340 seats, up from 41% last quarter.</a:t>
            </a:r>
            <a:endParaRPr lang="en-US" sz="1388" dirty="0"/>
          </a:p>
        </p:txBody>
      </p:sp>
      <p:sp>
        <p:nvSpPr>
          <p:cNvPr id="15" name="Shape 10"/>
          <p:cNvSpPr/>
          <p:nvPr/>
        </p:nvSpPr>
        <p:spPr>
          <a:xfrm>
            <a:off x="12039600" y="1678186"/>
            <a:ext cx="5410200" cy="1276350"/>
          </a:xfrm>
          <a:prstGeom prst="roundRect">
            <a:avLst>
              <a:gd name="adj" fmla="val 10448"/>
            </a:avLst>
          </a:prstGeom>
          <a:solidFill>
            <a:srgbClr val="7462A6">
              <a:alpha val="16000"/>
            </a:srgbClr>
          </a:solidFill>
          <a:ln w="9525">
            <a:solidFill>
              <a:srgbClr val="7462A6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Shape 11"/>
          <p:cNvSpPr/>
          <p:nvPr/>
        </p:nvSpPr>
        <p:spPr>
          <a:xfrm>
            <a:off x="12258675" y="1859161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58675" y="1859161"/>
            <a:ext cx="914400" cy="914400"/>
          </a:xfrm>
          <a:prstGeom prst="ellipse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306425" y="1859161"/>
            <a:ext cx="4316730" cy="2547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4792"/>
              </a:lnSpc>
              <a:buNone/>
            </a:pPr>
            <a:r>
              <a:rPr lang="en-US" sz="1313" b="1" dirty="0">
                <a:solidFill>
                  <a:srgbClr val="2533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Renewal Outlook</a:t>
            </a:r>
            <a:endParaRPr lang="en-US" sz="1313" dirty="0"/>
          </a:p>
        </p:txBody>
      </p:sp>
      <p:sp>
        <p:nvSpPr>
          <p:cNvPr id="19" name="Text 13"/>
          <p:cNvSpPr/>
          <p:nvPr/>
        </p:nvSpPr>
        <p:spPr>
          <a:xfrm>
            <a:off x="13306425" y="2113955"/>
            <a:ext cx="4042029" cy="5313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9615"/>
              </a:lnSpc>
              <a:buNone/>
            </a:pPr>
            <a:r>
              <a:rPr lang="en-US" sz="1388" dirty="0">
                <a:solidFill>
                  <a:srgbClr val="25333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On track for Q4 renewal; expansion conversation underway for EU fulfillment.</a:t>
            </a:r>
            <a:endParaRPr lang="en-US" sz="1388" dirty="0"/>
          </a:p>
        </p:txBody>
      </p:sp>
      <p:sp>
        <p:nvSpPr>
          <p:cNvPr id="20" name="Shape 14"/>
          <p:cNvSpPr/>
          <p:nvPr/>
        </p:nvSpPr>
        <p:spPr>
          <a:xfrm>
            <a:off x="838200" y="3145036"/>
            <a:ext cx="5410200" cy="2194322"/>
          </a:xfrm>
          <a:prstGeom prst="roundRect">
            <a:avLst>
              <a:gd name="adj" fmla="val 6077"/>
            </a:avLst>
          </a:prstGeom>
          <a:solidFill>
            <a:srgbClr val="FFFFFF"/>
          </a:solidFill>
          <a:ln w="9525">
            <a:solidFill>
              <a:srgbClr val="25333A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" name="Shape 15"/>
          <p:cNvSpPr/>
          <p:nvPr/>
        </p:nvSpPr>
        <p:spPr>
          <a:xfrm>
            <a:off x="1057275" y="3326011"/>
            <a:ext cx="676275" cy="676275"/>
          </a:xfrm>
          <a:prstGeom prst="ellipse">
            <a:avLst/>
          </a:prstGeom>
          <a:solidFill>
            <a:srgbClr val="007F83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7275" y="3326011"/>
            <a:ext cx="676275" cy="676275"/>
          </a:xfrm>
          <a:prstGeom prst="ellipse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828800" y="3555802"/>
            <a:ext cx="514499" cy="2547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4792"/>
              </a:lnSpc>
              <a:buNone/>
            </a:pPr>
            <a:r>
              <a:rPr lang="en-US" sz="1313" b="1" kern="0" spc="39" dirty="0">
                <a:solidFill>
                  <a:srgbClr val="007F8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FACT</a:t>
            </a:r>
            <a:endParaRPr lang="en-US" sz="1313" dirty="0"/>
          </a:p>
        </p:txBody>
      </p:sp>
      <p:sp>
        <p:nvSpPr>
          <p:cNvPr id="24" name="Shape 17"/>
          <p:cNvSpPr/>
          <p:nvPr/>
        </p:nvSpPr>
        <p:spPr>
          <a:xfrm>
            <a:off x="1057275" y="4078486"/>
            <a:ext cx="762000" cy="19050"/>
          </a:xfrm>
          <a:prstGeom prst="rect">
            <a:avLst/>
          </a:prstGeom>
          <a:solidFill>
            <a:srgbClr val="007F83">
              <a:alpha val="33000"/>
            </a:srgb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5" name="Shape 18"/>
          <p:cNvSpPr/>
          <p:nvPr/>
        </p:nvSpPr>
        <p:spPr>
          <a:xfrm>
            <a:off x="1057275" y="4307086"/>
            <a:ext cx="47625" cy="47625"/>
          </a:xfrm>
          <a:prstGeom prst="ellipse">
            <a:avLst/>
          </a:prstGeom>
          <a:solidFill>
            <a:srgbClr val="007F8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6" name="Text 19"/>
          <p:cNvSpPr/>
          <p:nvPr/>
        </p:nvSpPr>
        <p:spPr>
          <a:xfrm>
            <a:off x="1209675" y="4192786"/>
            <a:ext cx="371198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8942"/>
              </a:lnSpc>
              <a:buNone/>
            </a:pPr>
            <a:r>
              <a:rPr lang="en-US" sz="1388" dirty="0">
                <a:solidFill>
                  <a:srgbClr val="25333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Health Score improved from 51 to 58 this quarter.</a:t>
            </a:r>
            <a:endParaRPr lang="en-US" sz="1388" dirty="0"/>
          </a:p>
        </p:txBody>
      </p:sp>
      <p:sp>
        <p:nvSpPr>
          <p:cNvPr id="27" name="Shape 20"/>
          <p:cNvSpPr/>
          <p:nvPr/>
        </p:nvSpPr>
        <p:spPr>
          <a:xfrm>
            <a:off x="1057275" y="4813102"/>
            <a:ext cx="47625" cy="47625"/>
          </a:xfrm>
          <a:prstGeom prst="ellipse">
            <a:avLst/>
          </a:prstGeom>
          <a:solidFill>
            <a:srgbClr val="007F8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8" name="Text 21"/>
          <p:cNvSpPr/>
          <p:nvPr/>
        </p:nvSpPr>
        <p:spPr>
          <a:xfrm>
            <a:off x="1209675" y="4698802"/>
            <a:ext cx="390421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8942"/>
              </a:lnSpc>
              <a:buNone/>
            </a:pPr>
            <a:r>
              <a:rPr lang="en-US" sz="1388" dirty="0">
                <a:solidFill>
                  <a:srgbClr val="25333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3 of 4 committed integrations are live in production.</a:t>
            </a:r>
            <a:endParaRPr lang="en-US" sz="1388" dirty="0"/>
          </a:p>
        </p:txBody>
      </p:sp>
      <p:sp>
        <p:nvSpPr>
          <p:cNvPr id="29" name="Shape 22"/>
          <p:cNvSpPr/>
          <p:nvPr/>
        </p:nvSpPr>
        <p:spPr>
          <a:xfrm>
            <a:off x="6438900" y="3145036"/>
            <a:ext cx="5410200" cy="2194322"/>
          </a:xfrm>
          <a:prstGeom prst="roundRect">
            <a:avLst>
              <a:gd name="adj" fmla="val 6077"/>
            </a:avLst>
          </a:prstGeom>
          <a:solidFill>
            <a:srgbClr val="FFFFFF"/>
          </a:solidFill>
          <a:ln w="9525">
            <a:solidFill>
              <a:srgbClr val="25333A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0" name="Shape 23"/>
          <p:cNvSpPr/>
          <p:nvPr/>
        </p:nvSpPr>
        <p:spPr>
          <a:xfrm>
            <a:off x="6657975" y="3326011"/>
            <a:ext cx="676275" cy="676275"/>
          </a:xfrm>
          <a:prstGeom prst="ellipse">
            <a:avLst/>
          </a:prstGeom>
          <a:solidFill>
            <a:srgbClr val="226FBD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57975" y="3326011"/>
            <a:ext cx="676275" cy="676275"/>
          </a:xfrm>
          <a:prstGeom prst="ellipse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429500" y="3555802"/>
            <a:ext cx="1596182" cy="2547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4792"/>
              </a:lnSpc>
              <a:buNone/>
            </a:pPr>
            <a:r>
              <a:rPr lang="en-US" sz="1313" b="1" kern="0" spc="39" dirty="0">
                <a:solidFill>
                  <a:srgbClr val="226FB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INTERPRETATION</a:t>
            </a:r>
            <a:endParaRPr lang="en-US" sz="1313" dirty="0"/>
          </a:p>
        </p:txBody>
      </p:sp>
      <p:sp>
        <p:nvSpPr>
          <p:cNvPr id="33" name="Shape 25"/>
          <p:cNvSpPr/>
          <p:nvPr/>
        </p:nvSpPr>
        <p:spPr>
          <a:xfrm>
            <a:off x="6657975" y="4078486"/>
            <a:ext cx="1143000" cy="19050"/>
          </a:xfrm>
          <a:prstGeom prst="rect">
            <a:avLst/>
          </a:prstGeom>
          <a:solidFill>
            <a:srgbClr val="226FBD">
              <a:alpha val="33000"/>
            </a:srgb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4" name="Shape 26"/>
          <p:cNvSpPr/>
          <p:nvPr/>
        </p:nvSpPr>
        <p:spPr>
          <a:xfrm>
            <a:off x="6657975" y="4307086"/>
            <a:ext cx="47625" cy="47625"/>
          </a:xfrm>
          <a:prstGeom prst="ellipse">
            <a:avLst/>
          </a:prstGeom>
          <a:solidFill>
            <a:srgbClr val="226FBD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5" name="Text 27"/>
          <p:cNvSpPr/>
          <p:nvPr/>
        </p:nvSpPr>
        <p:spPr>
          <a:xfrm>
            <a:off x="6810375" y="4192786"/>
            <a:ext cx="4517237" cy="506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8942"/>
              </a:lnSpc>
              <a:buNone/>
            </a:pPr>
            <a:r>
              <a:rPr lang="en-US" sz="1388" dirty="0">
                <a:solidFill>
                  <a:srgbClr val="25333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Adoption growth is concentrated in support; warehouse ops adoption remains flat.</a:t>
            </a:r>
            <a:endParaRPr lang="en-US" sz="1388" dirty="0"/>
          </a:p>
        </p:txBody>
      </p:sp>
      <p:sp>
        <p:nvSpPr>
          <p:cNvPr id="36" name="Shape 28"/>
          <p:cNvSpPr/>
          <p:nvPr/>
        </p:nvSpPr>
        <p:spPr>
          <a:xfrm>
            <a:off x="6657975" y="5033367"/>
            <a:ext cx="47625" cy="47625"/>
          </a:xfrm>
          <a:prstGeom prst="ellipse">
            <a:avLst/>
          </a:prstGeom>
          <a:solidFill>
            <a:srgbClr val="226FBD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7" name="Text 29"/>
          <p:cNvSpPr/>
          <p:nvPr/>
        </p:nvSpPr>
        <p:spPr>
          <a:xfrm>
            <a:off x="6810375" y="4919067"/>
            <a:ext cx="386175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8942"/>
              </a:lnSpc>
              <a:buNone/>
            </a:pPr>
            <a:r>
              <a:rPr lang="en-US" sz="1388" dirty="0">
                <a:solidFill>
                  <a:srgbClr val="25333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Ticket deflection is trending ahead of the Q2 target.</a:t>
            </a:r>
            <a:endParaRPr lang="en-US" sz="1388" dirty="0"/>
          </a:p>
        </p:txBody>
      </p:sp>
      <p:sp>
        <p:nvSpPr>
          <p:cNvPr id="38" name="Shape 30"/>
          <p:cNvSpPr/>
          <p:nvPr/>
        </p:nvSpPr>
        <p:spPr>
          <a:xfrm>
            <a:off x="12039600" y="3145036"/>
            <a:ext cx="5410200" cy="2194322"/>
          </a:xfrm>
          <a:prstGeom prst="roundRect">
            <a:avLst>
              <a:gd name="adj" fmla="val 6077"/>
            </a:avLst>
          </a:prstGeom>
          <a:solidFill>
            <a:srgbClr val="7462A6">
              <a:alpha val="13000"/>
            </a:srgbClr>
          </a:solidFill>
          <a:ln w="9525">
            <a:solidFill>
              <a:srgbClr val="25333A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9" name="Shape 31"/>
          <p:cNvSpPr/>
          <p:nvPr/>
        </p:nvSpPr>
        <p:spPr>
          <a:xfrm>
            <a:off x="12258675" y="3326011"/>
            <a:ext cx="676275" cy="676275"/>
          </a:xfrm>
          <a:prstGeom prst="ellipse">
            <a:avLst/>
          </a:prstGeom>
          <a:solidFill>
            <a:srgbClr val="7462A6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40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258675" y="3326011"/>
            <a:ext cx="676275" cy="676275"/>
          </a:xfrm>
          <a:prstGeom prst="ellipse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13030200" y="3555802"/>
            <a:ext cx="1794436" cy="2547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4792"/>
              </a:lnSpc>
              <a:buNone/>
            </a:pPr>
            <a:r>
              <a:rPr lang="en-US" sz="1313" b="1" kern="0" spc="39" dirty="0">
                <a:solidFill>
                  <a:srgbClr val="7462A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RECOMMENDATION</a:t>
            </a:r>
            <a:endParaRPr lang="en-US" sz="1313" dirty="0"/>
          </a:p>
        </p:txBody>
      </p:sp>
      <p:sp>
        <p:nvSpPr>
          <p:cNvPr id="42" name="Shape 33"/>
          <p:cNvSpPr/>
          <p:nvPr/>
        </p:nvSpPr>
        <p:spPr>
          <a:xfrm>
            <a:off x="12258675" y="4078486"/>
            <a:ext cx="1238250" cy="19050"/>
          </a:xfrm>
          <a:prstGeom prst="rect">
            <a:avLst/>
          </a:prstGeom>
          <a:solidFill>
            <a:srgbClr val="7462A6">
              <a:alpha val="33000"/>
            </a:srgb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3" name="Text 34"/>
          <p:cNvSpPr/>
          <p:nvPr/>
        </p:nvSpPr>
        <p:spPr>
          <a:xfrm>
            <a:off x="12258675" y="4211836"/>
            <a:ext cx="5469255" cy="2847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9615"/>
              </a:lnSpc>
              <a:buNone/>
            </a:pPr>
            <a:r>
              <a:rPr lang="en-US" sz="1388" dirty="0">
                <a:solidFill>
                  <a:srgbClr val="25333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Run a focused enablement session for warehouse ops before Q3.</a:t>
            </a:r>
            <a:endParaRPr lang="en-US" sz="1388" dirty="0"/>
          </a:p>
        </p:txBody>
      </p:sp>
      <p:sp>
        <p:nvSpPr>
          <p:cNvPr id="44" name="Shape 35"/>
          <p:cNvSpPr/>
          <p:nvPr/>
        </p:nvSpPr>
        <p:spPr>
          <a:xfrm>
            <a:off x="838200" y="5529858"/>
            <a:ext cx="16611600" cy="1295400"/>
          </a:xfrm>
          <a:prstGeom prst="roundRect">
            <a:avLst>
              <a:gd name="adj" fmla="val 10294"/>
            </a:avLst>
          </a:prstGeom>
          <a:solidFill>
            <a:srgbClr val="0F6B6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5" name="Shape 36"/>
          <p:cNvSpPr/>
          <p:nvPr/>
        </p:nvSpPr>
        <p:spPr>
          <a:xfrm>
            <a:off x="1085850" y="5720358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46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85850" y="5720358"/>
            <a:ext cx="914400" cy="914400"/>
          </a:xfrm>
          <a:prstGeom prst="ellipse">
            <a:avLst/>
          </a:prstGeom>
        </p:spPr>
      </p:pic>
      <p:sp>
        <p:nvSpPr>
          <p:cNvPr id="47" name="Text 37"/>
          <p:cNvSpPr/>
          <p:nvPr/>
        </p:nvSpPr>
        <p:spPr>
          <a:xfrm>
            <a:off x="2133600" y="5988993"/>
            <a:ext cx="1199852" cy="2266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6087"/>
              </a:lnSpc>
              <a:buNone/>
            </a:pPr>
            <a:r>
              <a:rPr lang="en-US" sz="1238" b="1" kern="0" spc="37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CUSTOMER</a:t>
            </a:r>
            <a:endParaRPr lang="en-US" sz="1238" dirty="0"/>
          </a:p>
        </p:txBody>
      </p:sp>
      <p:sp>
        <p:nvSpPr>
          <p:cNvPr id="48" name="Text 38"/>
          <p:cNvSpPr/>
          <p:nvPr/>
        </p:nvSpPr>
        <p:spPr>
          <a:xfrm>
            <a:off x="2133600" y="6177558"/>
            <a:ext cx="1199852" cy="2266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6087"/>
              </a:lnSpc>
              <a:buNone/>
            </a:pPr>
            <a:r>
              <a:rPr lang="en-US" sz="1238" b="1" kern="0" spc="37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COMMITMENT</a:t>
            </a:r>
            <a:endParaRPr lang="en-US" sz="1238" dirty="0"/>
          </a:p>
        </p:txBody>
      </p:sp>
      <p:sp>
        <p:nvSpPr>
          <p:cNvPr id="49" name="Text 39"/>
          <p:cNvSpPr/>
          <p:nvPr/>
        </p:nvSpPr>
        <p:spPr>
          <a:xfrm>
            <a:off x="3504902" y="6054179"/>
            <a:ext cx="4896594" cy="2847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9615"/>
              </a:lnSpc>
              <a:buNone/>
            </a:pPr>
            <a:r>
              <a:rPr lang="en-US" sz="1388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Complete SSO rollout to remaining business units by Jul 15</a:t>
            </a:r>
            <a:endParaRPr lang="en-US" sz="1388" dirty="0"/>
          </a:p>
        </p:txBody>
      </p:sp>
      <p:sp>
        <p:nvSpPr>
          <p:cNvPr id="50" name="Text 40"/>
          <p:cNvSpPr/>
          <p:nvPr/>
        </p:nvSpPr>
        <p:spPr>
          <a:xfrm>
            <a:off x="8127802" y="6054179"/>
            <a:ext cx="4896594" cy="2847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9615"/>
              </a:lnSpc>
              <a:buNone/>
            </a:pPr>
            <a:r>
              <a:rPr lang="en-US" sz="1388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Nominate an executive sponsor for the EU expansion</a:t>
            </a:r>
            <a:endParaRPr lang="en-US" sz="1388" dirty="0"/>
          </a:p>
        </p:txBody>
      </p:sp>
      <p:sp>
        <p:nvSpPr>
          <p:cNvPr id="51" name="Text 41"/>
          <p:cNvSpPr/>
          <p:nvPr/>
        </p:nvSpPr>
        <p:spPr>
          <a:xfrm>
            <a:off x="12750701" y="6054179"/>
            <a:ext cx="4896594" cy="2847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9615"/>
              </a:lnSpc>
              <a:buNone/>
            </a:pPr>
            <a:r>
              <a:rPr lang="en-US" sz="1388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Share Q3 ticket volume forecast by end of June</a:t>
            </a:r>
            <a:endParaRPr lang="en-US" sz="1388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825" y="457200"/>
            <a:ext cx="2143125" cy="67523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76550" y="586680"/>
            <a:ext cx="5287536" cy="4542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4038"/>
              </a:lnSpc>
              <a:buNone/>
            </a:pPr>
            <a:r>
              <a:rPr lang="en-US" sz="2850" b="1" kern="0" spc="-29" dirty="0">
                <a:solidFill>
                  <a:srgbClr val="2533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Business Objectives &amp; Value</a:t>
            </a:r>
            <a:endParaRPr lang="en-US" sz="2850" dirty="0"/>
          </a:p>
        </p:txBody>
      </p:sp>
      <p:sp>
        <p:nvSpPr>
          <p:cNvPr id="4" name="Text 1"/>
          <p:cNvSpPr/>
          <p:nvPr/>
        </p:nvSpPr>
        <p:spPr>
          <a:xfrm>
            <a:off x="2495550" y="1208633"/>
            <a:ext cx="16449675" cy="2981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7500"/>
              </a:lnSpc>
              <a:buNone/>
            </a:pPr>
            <a:r>
              <a:rPr lang="en-US" sz="1463" dirty="0">
                <a:solidFill>
                  <a:srgbClr val="25333A">
                    <a:alpha val="55000"/>
                  </a:srgbClr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What we set out to achieve, and what it delivered.</a:t>
            </a:r>
            <a:endParaRPr lang="en-US" sz="1463" dirty="0"/>
          </a:p>
        </p:txBody>
      </p:sp>
      <p:sp>
        <p:nvSpPr>
          <p:cNvPr id="5" name="Shape 2"/>
          <p:cNvSpPr/>
          <p:nvPr/>
        </p:nvSpPr>
        <p:spPr>
          <a:xfrm>
            <a:off x="838200" y="1659136"/>
            <a:ext cx="16611600" cy="1581150"/>
          </a:xfrm>
          <a:prstGeom prst="roundRect">
            <a:avLst>
              <a:gd name="adj" fmla="val 8434"/>
            </a:avLst>
          </a:prstGeom>
          <a:solidFill>
            <a:srgbClr val="0F6B6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" name="Shape 3"/>
          <p:cNvSpPr/>
          <p:nvPr/>
        </p:nvSpPr>
        <p:spPr>
          <a:xfrm>
            <a:off x="1123950" y="1868686"/>
            <a:ext cx="1162050" cy="116205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3950" y="1868686"/>
            <a:ext cx="1162050" cy="1162050"/>
          </a:xfrm>
          <a:prstGeom prst="ellipse">
            <a:avLst/>
          </a:prstGeom>
        </p:spPr>
      </p:pic>
      <p:sp>
        <p:nvSpPr>
          <p:cNvPr id="8" name="Text 4"/>
          <p:cNvSpPr/>
          <p:nvPr/>
        </p:nvSpPr>
        <p:spPr>
          <a:xfrm>
            <a:off x="2476500" y="2092523"/>
            <a:ext cx="1581939" cy="2266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6087"/>
              </a:lnSpc>
              <a:buNone/>
            </a:pPr>
            <a:r>
              <a:rPr lang="en-US" sz="1238" b="1" kern="0" spc="50" dirty="0">
                <a:solidFill>
                  <a:srgbClr val="FFFFFF">
                    <a:alpha val="75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VALUE DELIVERED</a:t>
            </a:r>
            <a:endParaRPr lang="en-US" sz="1238" dirty="0"/>
          </a:p>
        </p:txBody>
      </p:sp>
      <p:sp>
        <p:nvSpPr>
          <p:cNvPr id="9" name="Text 5"/>
          <p:cNvSpPr/>
          <p:nvPr/>
        </p:nvSpPr>
        <p:spPr>
          <a:xfrm>
            <a:off x="2476500" y="2242989"/>
            <a:ext cx="1390070" cy="6381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7619"/>
              </a:lnSpc>
              <a:buNone/>
            </a:pPr>
            <a:r>
              <a:rPr lang="en-US" sz="3450" b="1" kern="0" spc="-34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$184K</a:t>
            </a:r>
            <a:endParaRPr lang="en-US" sz="3450" dirty="0"/>
          </a:p>
        </p:txBody>
      </p:sp>
      <p:sp>
        <p:nvSpPr>
          <p:cNvPr id="10" name="Shape 6"/>
          <p:cNvSpPr/>
          <p:nvPr/>
        </p:nvSpPr>
        <p:spPr>
          <a:xfrm>
            <a:off x="4105126" y="2240161"/>
            <a:ext cx="14288" cy="419100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1" name="Text 7"/>
          <p:cNvSpPr/>
          <p:nvPr/>
        </p:nvSpPr>
        <p:spPr>
          <a:xfrm>
            <a:off x="4309914" y="2319635"/>
            <a:ext cx="6493431" cy="2981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7500"/>
              </a:lnSpc>
              <a:buNone/>
            </a:pPr>
            <a:r>
              <a:rPr lang="en-US" sz="1463" dirty="0">
                <a:solidFill>
                  <a:srgbClr val="FFFFFF">
                    <a:alpha val="90000"/>
                  </a:srgbClr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 support cost avoidance and 3.2 FTE-equivalent capacity freed this quarter.</a:t>
            </a:r>
            <a:endParaRPr lang="en-US" sz="1463" dirty="0"/>
          </a:p>
        </p:txBody>
      </p:sp>
      <p:sp>
        <p:nvSpPr>
          <p:cNvPr id="12" name="Shape 8"/>
          <p:cNvSpPr/>
          <p:nvPr/>
        </p:nvSpPr>
        <p:spPr>
          <a:xfrm>
            <a:off x="838200" y="3430786"/>
            <a:ext cx="5410200" cy="1276350"/>
          </a:xfrm>
          <a:prstGeom prst="roundRect">
            <a:avLst>
              <a:gd name="adj" fmla="val 10448"/>
            </a:avLst>
          </a:prstGeom>
          <a:solidFill>
            <a:srgbClr val="007F83">
              <a:alpha val="14000"/>
            </a:srgbClr>
          </a:solidFill>
          <a:ln w="9525">
            <a:solidFill>
              <a:srgbClr val="007F83">
                <a:alpha val="26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Shape 9"/>
          <p:cNvSpPr/>
          <p:nvPr/>
        </p:nvSpPr>
        <p:spPr>
          <a:xfrm>
            <a:off x="1057275" y="3611761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7275" y="3611761"/>
            <a:ext cx="914400" cy="914400"/>
          </a:xfrm>
          <a:prstGeom prst="ellipse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162175" y="3661023"/>
            <a:ext cx="1199852" cy="248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6087"/>
              </a:lnSpc>
              <a:buNone/>
            </a:pPr>
            <a:r>
              <a:rPr lang="en-US" sz="1275" b="1" dirty="0">
                <a:solidFill>
                  <a:srgbClr val="2533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Ticket Backlog</a:t>
            </a:r>
            <a:endParaRPr lang="en-US" sz="1275" dirty="0"/>
          </a:p>
        </p:txBody>
      </p:sp>
      <p:sp>
        <p:nvSpPr>
          <p:cNvPr id="16" name="Text 11"/>
          <p:cNvSpPr/>
          <p:nvPr/>
        </p:nvSpPr>
        <p:spPr>
          <a:xfrm>
            <a:off x="2162175" y="3842891"/>
            <a:ext cx="805607" cy="4762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696"/>
              </a:lnSpc>
              <a:buNone/>
            </a:pPr>
            <a:r>
              <a:rPr lang="en-US" sz="2550" b="1" kern="0" spc="-25" dirty="0">
                <a:solidFill>
                  <a:srgbClr val="007F8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-71%</a:t>
            </a:r>
            <a:endParaRPr lang="en-US" sz="2550" dirty="0"/>
          </a:p>
        </p:txBody>
      </p:sp>
      <p:sp>
        <p:nvSpPr>
          <p:cNvPr id="17" name="Text 12"/>
          <p:cNvSpPr/>
          <p:nvPr/>
        </p:nvSpPr>
        <p:spPr>
          <a:xfrm>
            <a:off x="2162175" y="4260056"/>
            <a:ext cx="1199852" cy="2547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1000"/>
              </a:lnSpc>
              <a:buNone/>
            </a:pPr>
            <a:r>
              <a:rPr lang="en-US" sz="1313" dirty="0">
                <a:solidFill>
                  <a:srgbClr val="25333A">
                    <a:alpha val="50000"/>
                  </a:srgbClr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since January</a:t>
            </a:r>
            <a:endParaRPr lang="en-US" sz="1313" dirty="0"/>
          </a:p>
        </p:txBody>
      </p:sp>
      <p:sp>
        <p:nvSpPr>
          <p:cNvPr id="18" name="Shape 13"/>
          <p:cNvSpPr/>
          <p:nvPr/>
        </p:nvSpPr>
        <p:spPr>
          <a:xfrm>
            <a:off x="6438900" y="3430786"/>
            <a:ext cx="5410200" cy="1276350"/>
          </a:xfrm>
          <a:prstGeom prst="roundRect">
            <a:avLst>
              <a:gd name="adj" fmla="val 10448"/>
            </a:avLst>
          </a:prstGeom>
          <a:solidFill>
            <a:srgbClr val="226FBD">
              <a:alpha val="16000"/>
            </a:srgbClr>
          </a:solidFill>
          <a:ln w="9525">
            <a:solidFill>
              <a:srgbClr val="226FBD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" name="Shape 14"/>
          <p:cNvSpPr/>
          <p:nvPr/>
        </p:nvSpPr>
        <p:spPr>
          <a:xfrm>
            <a:off x="6657975" y="3611761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57975" y="3611761"/>
            <a:ext cx="914400" cy="914400"/>
          </a:xfrm>
          <a:prstGeom prst="ellipse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762875" y="3661023"/>
            <a:ext cx="834479" cy="248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6087"/>
              </a:lnSpc>
              <a:buNone/>
            </a:pPr>
            <a:r>
              <a:rPr lang="en-US" sz="1275" b="1" dirty="0">
                <a:solidFill>
                  <a:srgbClr val="2533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CSAT</a:t>
            </a:r>
            <a:endParaRPr lang="en-US" sz="1275" dirty="0"/>
          </a:p>
        </p:txBody>
      </p:sp>
      <p:sp>
        <p:nvSpPr>
          <p:cNvPr id="22" name="Text 16"/>
          <p:cNvSpPr/>
          <p:nvPr/>
        </p:nvSpPr>
        <p:spPr>
          <a:xfrm>
            <a:off x="7762875" y="3842891"/>
            <a:ext cx="466576" cy="4762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696"/>
              </a:lnSpc>
              <a:buNone/>
            </a:pPr>
            <a:r>
              <a:rPr lang="en-US" sz="2550" b="1" kern="0" spc="-25" dirty="0">
                <a:solidFill>
                  <a:srgbClr val="226FB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88</a:t>
            </a:r>
            <a:endParaRPr lang="en-US" sz="2550" dirty="0"/>
          </a:p>
        </p:txBody>
      </p:sp>
      <p:sp>
        <p:nvSpPr>
          <p:cNvPr id="23" name="Text 17"/>
          <p:cNvSpPr/>
          <p:nvPr/>
        </p:nvSpPr>
        <p:spPr>
          <a:xfrm>
            <a:off x="8153251" y="4014341"/>
            <a:ext cx="390079" cy="2762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91000"/>
              </a:lnSpc>
              <a:buNone/>
            </a:pPr>
            <a:r>
              <a:rPr lang="en-US" sz="1313" b="1" dirty="0">
                <a:solidFill>
                  <a:srgbClr val="25333A">
                    <a:alpha val="50000"/>
                  </a:srgbClr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/100</a:t>
            </a:r>
            <a:endParaRPr lang="en-US" sz="1313" dirty="0"/>
          </a:p>
        </p:txBody>
      </p:sp>
      <p:sp>
        <p:nvSpPr>
          <p:cNvPr id="24" name="Text 18"/>
          <p:cNvSpPr/>
          <p:nvPr/>
        </p:nvSpPr>
        <p:spPr>
          <a:xfrm>
            <a:off x="7762875" y="4260056"/>
            <a:ext cx="834479" cy="2547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91000"/>
              </a:lnSpc>
              <a:buNone/>
            </a:pPr>
            <a:r>
              <a:rPr lang="en-US" sz="1313" dirty="0">
                <a:solidFill>
                  <a:srgbClr val="25333A">
                    <a:alpha val="50000"/>
                  </a:srgbClr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+6 pts QoQ</a:t>
            </a:r>
            <a:endParaRPr lang="en-US" sz="1313" dirty="0"/>
          </a:p>
        </p:txBody>
      </p:sp>
      <p:sp>
        <p:nvSpPr>
          <p:cNvPr id="25" name="Shape 19"/>
          <p:cNvSpPr/>
          <p:nvPr/>
        </p:nvSpPr>
        <p:spPr>
          <a:xfrm>
            <a:off x="12039600" y="3430786"/>
            <a:ext cx="5410200" cy="1276350"/>
          </a:xfrm>
          <a:prstGeom prst="roundRect">
            <a:avLst>
              <a:gd name="adj" fmla="val 10448"/>
            </a:avLst>
          </a:prstGeom>
          <a:solidFill>
            <a:srgbClr val="A9E5D3">
              <a:alpha val="28000"/>
            </a:srgbClr>
          </a:solidFill>
          <a:ln w="9525">
            <a:solidFill>
              <a:srgbClr val="007F83">
                <a:alpha val="23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6" name="Shape 20"/>
          <p:cNvSpPr/>
          <p:nvPr/>
        </p:nvSpPr>
        <p:spPr>
          <a:xfrm>
            <a:off x="12258675" y="3611761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58675" y="3611761"/>
            <a:ext cx="914400" cy="914400"/>
          </a:xfrm>
          <a:prstGeom prst="ellipse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3363575" y="3661023"/>
            <a:ext cx="1218456" cy="248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6087"/>
              </a:lnSpc>
              <a:buNone/>
            </a:pPr>
            <a:r>
              <a:rPr lang="en-US" sz="1275" b="1" dirty="0">
                <a:solidFill>
                  <a:srgbClr val="2533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First Response</a:t>
            </a:r>
            <a:endParaRPr lang="en-US" sz="1275" dirty="0"/>
          </a:p>
        </p:txBody>
      </p:sp>
      <p:sp>
        <p:nvSpPr>
          <p:cNvPr id="29" name="Text 22"/>
          <p:cNvSpPr/>
          <p:nvPr/>
        </p:nvSpPr>
        <p:spPr>
          <a:xfrm>
            <a:off x="13363575" y="3842891"/>
            <a:ext cx="743396" cy="4762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696"/>
              </a:lnSpc>
              <a:buNone/>
            </a:pPr>
            <a:r>
              <a:rPr lang="en-US" sz="2550" b="1" kern="0" spc="-25" dirty="0">
                <a:solidFill>
                  <a:srgbClr val="007F8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22m</a:t>
            </a:r>
            <a:endParaRPr lang="en-US" sz="2550" dirty="0"/>
          </a:p>
        </p:txBody>
      </p:sp>
      <p:sp>
        <p:nvSpPr>
          <p:cNvPr id="30" name="Text 23"/>
          <p:cNvSpPr/>
          <p:nvPr/>
        </p:nvSpPr>
        <p:spPr>
          <a:xfrm>
            <a:off x="13363575" y="4260056"/>
            <a:ext cx="1218456" cy="2547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1000"/>
              </a:lnSpc>
              <a:buNone/>
            </a:pPr>
            <a:r>
              <a:rPr lang="en-US" sz="1313" dirty="0">
                <a:solidFill>
                  <a:srgbClr val="25333A">
                    <a:alpha val="50000"/>
                  </a:srgbClr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from 2h prior</a:t>
            </a:r>
            <a:endParaRPr lang="en-US" sz="1313" dirty="0"/>
          </a:p>
        </p:txBody>
      </p:sp>
      <p:sp>
        <p:nvSpPr>
          <p:cNvPr id="31" name="Shape 24"/>
          <p:cNvSpPr/>
          <p:nvPr/>
        </p:nvSpPr>
        <p:spPr>
          <a:xfrm>
            <a:off x="838200" y="4916686"/>
            <a:ext cx="16611600" cy="2717750"/>
          </a:xfrm>
          <a:prstGeom prst="roundRect">
            <a:avLst>
              <a:gd name="adj" fmla="val 4907"/>
            </a:avLst>
          </a:prstGeom>
          <a:solidFill>
            <a:srgbClr val="FFFFFF"/>
          </a:solidFill>
          <a:ln w="9525">
            <a:solidFill>
              <a:srgbClr val="25333A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2" name="Text 25"/>
          <p:cNvSpPr/>
          <p:nvPr/>
        </p:nvSpPr>
        <p:spPr>
          <a:xfrm>
            <a:off x="1114425" y="5173861"/>
            <a:ext cx="17665065" cy="2918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179"/>
              </a:lnSpc>
              <a:buNone/>
            </a:pPr>
            <a:r>
              <a:rPr lang="en-US" sz="1538" b="1" dirty="0">
                <a:solidFill>
                  <a:srgbClr val="2533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Business Objectives &amp; Desired Outcomes</a:t>
            </a:r>
            <a:endParaRPr lang="en-US" sz="1538" dirty="0"/>
          </a:p>
        </p:txBody>
      </p:sp>
      <p:sp>
        <p:nvSpPr>
          <p:cNvPr id="33" name="Shape 26"/>
          <p:cNvSpPr/>
          <p:nvPr/>
        </p:nvSpPr>
        <p:spPr>
          <a:xfrm>
            <a:off x="1114425" y="5860405"/>
            <a:ext cx="7924800" cy="19050"/>
          </a:xfrm>
          <a:prstGeom prst="rect">
            <a:avLst/>
          </a:prstGeom>
          <a:solidFill>
            <a:srgbClr val="007F83">
              <a:alpha val="33000"/>
            </a:srgb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4" name="Text 27"/>
          <p:cNvSpPr/>
          <p:nvPr/>
        </p:nvSpPr>
        <p:spPr>
          <a:xfrm>
            <a:off x="1114425" y="5580013"/>
            <a:ext cx="8162544" cy="2422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3261"/>
              </a:lnSpc>
              <a:buNone/>
            </a:pPr>
            <a:r>
              <a:rPr lang="en-US" sz="1238" b="1" kern="0" spc="50" dirty="0">
                <a:solidFill>
                  <a:srgbClr val="007F8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BUSINESS OBJECTIVES</a:t>
            </a:r>
            <a:endParaRPr lang="en-US" sz="1238" dirty="0"/>
          </a:p>
        </p:txBody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14425" y="6041380"/>
            <a:ext cx="142875" cy="142875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1352550" y="5993755"/>
            <a:ext cx="356130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6731"/>
              </a:lnSpc>
              <a:buNone/>
            </a:pPr>
            <a:r>
              <a:rPr lang="en-US" sz="1388" dirty="0">
                <a:solidFill>
                  <a:srgbClr val="25333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Reduce average ticket resolution below 4 hours</a:t>
            </a:r>
            <a:endParaRPr lang="en-US" sz="1388" dirty="0"/>
          </a:p>
        </p:txBody>
      </p:sp>
      <p:pic>
        <p:nvPicPr>
          <p:cNvPr id="37" name="Image 6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14425" y="6600974"/>
            <a:ext cx="142875" cy="142875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1352550" y="6553349"/>
            <a:ext cx="437452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6731"/>
              </a:lnSpc>
              <a:buNone/>
            </a:pPr>
            <a:r>
              <a:rPr lang="en-US" sz="1388" dirty="0">
                <a:solidFill>
                  <a:srgbClr val="25333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Consolidate support tooling onto one AI-assisted platform</a:t>
            </a:r>
            <a:endParaRPr lang="en-US" sz="1388" dirty="0"/>
          </a:p>
        </p:txBody>
      </p:sp>
      <p:pic>
        <p:nvPicPr>
          <p:cNvPr id="39" name="Image 7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14425" y="7160568"/>
            <a:ext cx="142875" cy="142875"/>
          </a:xfrm>
          <a:prstGeom prst="rect">
            <a:avLst/>
          </a:prstGeom>
        </p:spPr>
      </p:pic>
      <p:sp>
        <p:nvSpPr>
          <p:cNvPr id="40" name="Text 30"/>
          <p:cNvSpPr/>
          <p:nvPr/>
        </p:nvSpPr>
        <p:spPr>
          <a:xfrm>
            <a:off x="1352550" y="7112943"/>
            <a:ext cx="282610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6731"/>
              </a:lnSpc>
              <a:buNone/>
            </a:pPr>
            <a:r>
              <a:rPr lang="en-US" sz="1388" dirty="0">
                <a:solidFill>
                  <a:srgbClr val="25333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Improve CSAT above 90% by year end</a:t>
            </a:r>
            <a:endParaRPr lang="en-US" sz="1388" dirty="0"/>
          </a:p>
        </p:txBody>
      </p:sp>
      <p:sp>
        <p:nvSpPr>
          <p:cNvPr id="41" name="Shape 31"/>
          <p:cNvSpPr/>
          <p:nvPr/>
        </p:nvSpPr>
        <p:spPr>
          <a:xfrm>
            <a:off x="9248775" y="5860405"/>
            <a:ext cx="7924800" cy="19050"/>
          </a:xfrm>
          <a:prstGeom prst="rect">
            <a:avLst/>
          </a:prstGeom>
          <a:solidFill>
            <a:srgbClr val="226FBD">
              <a:alpha val="33000"/>
            </a:srgb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2" name="Text 32"/>
          <p:cNvSpPr/>
          <p:nvPr/>
        </p:nvSpPr>
        <p:spPr>
          <a:xfrm>
            <a:off x="9248775" y="5580013"/>
            <a:ext cx="8162544" cy="2422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3261"/>
              </a:lnSpc>
              <a:buNone/>
            </a:pPr>
            <a:r>
              <a:rPr lang="en-US" sz="1238" b="1" kern="0" spc="50" dirty="0">
                <a:solidFill>
                  <a:srgbClr val="226FB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DESIRED OUTCOMES</a:t>
            </a:r>
            <a:endParaRPr lang="en-US" sz="1238" dirty="0"/>
          </a:p>
        </p:txBody>
      </p:sp>
      <p:pic>
        <p:nvPicPr>
          <p:cNvPr id="43" name="Image 8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248775" y="6041380"/>
            <a:ext cx="142875" cy="142875"/>
          </a:xfrm>
          <a:prstGeom prst="rect">
            <a:avLst/>
          </a:prstGeom>
        </p:spPr>
      </p:pic>
      <p:sp>
        <p:nvSpPr>
          <p:cNvPr id="44" name="Text 33"/>
          <p:cNvSpPr/>
          <p:nvPr/>
        </p:nvSpPr>
        <p:spPr>
          <a:xfrm>
            <a:off x="9486900" y="5993755"/>
            <a:ext cx="265472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6731"/>
              </a:lnSpc>
              <a:buNone/>
            </a:pPr>
            <a:r>
              <a:rPr lang="en-US" sz="1388" dirty="0">
                <a:solidFill>
                  <a:srgbClr val="25333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Full warehouse ops adoption by Q3</a:t>
            </a:r>
            <a:endParaRPr lang="en-US" sz="1388" dirty="0"/>
          </a:p>
        </p:txBody>
      </p:sp>
      <p:pic>
        <p:nvPicPr>
          <p:cNvPr id="45" name="Image 9" descr="preencoded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248775" y="6600974"/>
            <a:ext cx="142875" cy="142875"/>
          </a:xfrm>
          <a:prstGeom prst="rect">
            <a:avLst/>
          </a:prstGeom>
        </p:spPr>
      </p:pic>
      <p:sp>
        <p:nvSpPr>
          <p:cNvPr id="46" name="Text 34"/>
          <p:cNvSpPr/>
          <p:nvPr/>
        </p:nvSpPr>
        <p:spPr>
          <a:xfrm>
            <a:off x="9486900" y="6553349"/>
            <a:ext cx="280526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6731"/>
              </a:lnSpc>
              <a:buNone/>
            </a:pPr>
            <a:r>
              <a:rPr lang="en-US" sz="1388" dirty="0">
                <a:solidFill>
                  <a:srgbClr val="25333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EU fulfillment team onboarded by Q4</a:t>
            </a:r>
            <a:endParaRPr lang="en-US" sz="1388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825" y="457200"/>
            <a:ext cx="2143125" cy="67523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76550" y="586680"/>
            <a:ext cx="5742652" cy="4542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4038"/>
              </a:lnSpc>
              <a:buNone/>
            </a:pPr>
            <a:r>
              <a:rPr lang="en-US" sz="2850" b="1" kern="0" spc="-29" dirty="0">
                <a:solidFill>
                  <a:srgbClr val="2533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Priorities &amp; Areas for Attention</a:t>
            </a:r>
            <a:endParaRPr lang="en-US" sz="2850" dirty="0"/>
          </a:p>
        </p:txBody>
      </p:sp>
      <p:sp>
        <p:nvSpPr>
          <p:cNvPr id="4" name="Text 1"/>
          <p:cNvSpPr/>
          <p:nvPr/>
        </p:nvSpPr>
        <p:spPr>
          <a:xfrm>
            <a:off x="2495550" y="1208633"/>
            <a:ext cx="16449675" cy="2981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7500"/>
              </a:lnSpc>
              <a:buNone/>
            </a:pPr>
            <a:r>
              <a:rPr lang="en-US" sz="1463" dirty="0">
                <a:solidFill>
                  <a:srgbClr val="25333A">
                    <a:alpha val="55000"/>
                  </a:srgbClr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What we're focused on together next.</a:t>
            </a:r>
            <a:endParaRPr lang="en-US" sz="1463" dirty="0"/>
          </a:p>
        </p:txBody>
      </p:sp>
      <p:sp>
        <p:nvSpPr>
          <p:cNvPr id="5" name="Shape 2"/>
          <p:cNvSpPr/>
          <p:nvPr/>
        </p:nvSpPr>
        <p:spPr>
          <a:xfrm>
            <a:off x="838200" y="1678186"/>
            <a:ext cx="16611600" cy="4168527"/>
          </a:xfrm>
          <a:prstGeom prst="roundRect">
            <a:avLst>
              <a:gd name="adj" fmla="val 3199"/>
            </a:avLst>
          </a:prstGeom>
          <a:solidFill>
            <a:srgbClr val="FFFFFF"/>
          </a:solidFill>
          <a:ln w="9525">
            <a:solidFill>
              <a:srgbClr val="25333A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3"/>
          <p:cNvSpPr/>
          <p:nvPr/>
        </p:nvSpPr>
        <p:spPr>
          <a:xfrm>
            <a:off x="1114425" y="1916311"/>
            <a:ext cx="17665065" cy="2918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179"/>
              </a:lnSpc>
              <a:buNone/>
            </a:pPr>
            <a:r>
              <a:rPr lang="en-US" sz="1538" b="1" dirty="0">
                <a:solidFill>
                  <a:srgbClr val="2533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Customer Priorities / Focus Areas</a:t>
            </a:r>
            <a:endParaRPr lang="en-US" sz="1538" dirty="0"/>
          </a:p>
        </p:txBody>
      </p:sp>
      <p:sp>
        <p:nvSpPr>
          <p:cNvPr id="7" name="Shape 4"/>
          <p:cNvSpPr/>
          <p:nvPr/>
        </p:nvSpPr>
        <p:spPr>
          <a:xfrm>
            <a:off x="1114425" y="2303413"/>
            <a:ext cx="16059150" cy="1038225"/>
          </a:xfrm>
          <a:prstGeom prst="roundRect">
            <a:avLst>
              <a:gd name="adj" fmla="val 9174"/>
            </a:avLst>
          </a:prstGeom>
          <a:solidFill>
            <a:srgbClr val="007F83">
              <a:alpha val="12000"/>
            </a:srgbClr>
          </a:solidFill>
          <a:ln w="9525">
            <a:solidFill>
              <a:srgbClr val="007F83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Shape 5"/>
          <p:cNvSpPr/>
          <p:nvPr/>
        </p:nvSpPr>
        <p:spPr>
          <a:xfrm>
            <a:off x="1295400" y="2446288"/>
            <a:ext cx="752475" cy="752475"/>
          </a:xfrm>
          <a:prstGeom prst="ellipse">
            <a:avLst/>
          </a:prstGeom>
          <a:solidFill>
            <a:srgbClr val="226FBD">
              <a:alpha val="22000"/>
            </a:srgbClr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5400" y="2446288"/>
            <a:ext cx="752475" cy="752475"/>
          </a:xfrm>
          <a:prstGeom prst="ellipse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181225" y="2692450"/>
            <a:ext cx="3827889" cy="2981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1111"/>
              </a:lnSpc>
              <a:buNone/>
            </a:pPr>
            <a:r>
              <a:rPr lang="en-US" sz="1463" b="1" dirty="0">
                <a:solidFill>
                  <a:srgbClr val="2533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Close the warehouse ops adoption gap</a:t>
            </a:r>
            <a:endParaRPr lang="en-US" sz="1463" dirty="0"/>
          </a:p>
        </p:txBody>
      </p:sp>
      <p:sp>
        <p:nvSpPr>
          <p:cNvPr id="11" name="Text 7"/>
          <p:cNvSpPr/>
          <p:nvPr/>
        </p:nvSpPr>
        <p:spPr>
          <a:xfrm>
            <a:off x="14129147" y="2729210"/>
            <a:ext cx="1459810" cy="224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050" b="1" kern="0" spc="52" dirty="0">
                <a:solidFill>
                  <a:srgbClr val="25333A">
                    <a:alpha val="34000"/>
                  </a:srgbClr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OWNER: MARIA CHEN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15627697" y="2729210"/>
            <a:ext cx="247948" cy="224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050" b="1" kern="0" spc="52" dirty="0">
                <a:solidFill>
                  <a:srgbClr val="25333A">
                    <a:alpha val="34000"/>
                  </a:srgbClr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Q3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15970895" y="2689175"/>
            <a:ext cx="1021705" cy="266700"/>
          </a:xfrm>
          <a:prstGeom prst="roundRect">
            <a:avLst>
              <a:gd name="adj" fmla="val 50000"/>
            </a:avLst>
          </a:prstGeom>
          <a:solidFill>
            <a:srgbClr val="226FBD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4" name="Text 10"/>
          <p:cNvSpPr/>
          <p:nvPr/>
        </p:nvSpPr>
        <p:spPr>
          <a:xfrm>
            <a:off x="16104245" y="2755850"/>
            <a:ext cx="831205" cy="1714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73684"/>
              </a:lnSpc>
              <a:buNone/>
            </a:pPr>
            <a:r>
              <a:rPr lang="en-US" sz="1050" b="1" kern="0" spc="2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 Progress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1114425" y="3436888"/>
            <a:ext cx="16059150" cy="1038225"/>
          </a:xfrm>
          <a:prstGeom prst="roundRect">
            <a:avLst>
              <a:gd name="adj" fmla="val 9174"/>
            </a:avLst>
          </a:prstGeom>
          <a:solidFill>
            <a:srgbClr val="007F83">
              <a:alpha val="12000"/>
            </a:srgbClr>
          </a:solidFill>
          <a:ln w="9525">
            <a:solidFill>
              <a:srgbClr val="007F83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Shape 12"/>
          <p:cNvSpPr/>
          <p:nvPr/>
        </p:nvSpPr>
        <p:spPr>
          <a:xfrm>
            <a:off x="1295400" y="3579763"/>
            <a:ext cx="752475" cy="752475"/>
          </a:xfrm>
          <a:prstGeom prst="ellipse">
            <a:avLst/>
          </a:prstGeom>
          <a:solidFill>
            <a:srgbClr val="A9E5D3">
              <a:alpha val="42000"/>
            </a:srgbClr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5400" y="3579763"/>
            <a:ext cx="752475" cy="752475"/>
          </a:xfrm>
          <a:prstGeom prst="ellipse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181225" y="3825925"/>
            <a:ext cx="4602569" cy="2981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1111"/>
              </a:lnSpc>
              <a:buNone/>
            </a:pPr>
            <a:r>
              <a:rPr lang="en-US" sz="1463" b="1" dirty="0">
                <a:solidFill>
                  <a:srgbClr val="2533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Finish SSO rollout for remaining business units</a:t>
            </a:r>
            <a:endParaRPr lang="en-US" sz="1463" dirty="0"/>
          </a:p>
        </p:txBody>
      </p:sp>
      <p:sp>
        <p:nvSpPr>
          <p:cNvPr id="19" name="Text 14"/>
          <p:cNvSpPr/>
          <p:nvPr/>
        </p:nvSpPr>
        <p:spPr>
          <a:xfrm>
            <a:off x="13824645" y="3862685"/>
            <a:ext cx="1382048" cy="224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050" b="1" kern="0" spc="52" dirty="0">
                <a:solidFill>
                  <a:srgbClr val="25333A">
                    <a:alpha val="34000"/>
                  </a:srgbClr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OWNER: DAVID OSEI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15252502" y="3862685"/>
            <a:ext cx="795635" cy="224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050" b="1" kern="0" spc="52" dirty="0">
                <a:solidFill>
                  <a:srgbClr val="25333A">
                    <a:alpha val="34000"/>
                  </a:srgbClr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DUE JUL 15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16143387" y="3822650"/>
            <a:ext cx="849213" cy="266700"/>
          </a:xfrm>
          <a:prstGeom prst="roundRect">
            <a:avLst>
              <a:gd name="adj" fmla="val 50000"/>
            </a:avLst>
          </a:prstGeom>
          <a:solidFill>
            <a:srgbClr val="A9E5D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2" name="Text 17"/>
          <p:cNvSpPr/>
          <p:nvPr/>
        </p:nvSpPr>
        <p:spPr>
          <a:xfrm>
            <a:off x="16276737" y="3889325"/>
            <a:ext cx="658713" cy="1714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73684"/>
              </a:lnSpc>
              <a:buNone/>
            </a:pPr>
            <a:r>
              <a:rPr lang="en-US" sz="1050" b="1" kern="0" spc="21" dirty="0">
                <a:solidFill>
                  <a:srgbClr val="0A5A4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On Track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1114425" y="4570363"/>
            <a:ext cx="16059150" cy="1038225"/>
          </a:xfrm>
          <a:prstGeom prst="roundRect">
            <a:avLst>
              <a:gd name="adj" fmla="val 9174"/>
            </a:avLst>
          </a:prstGeom>
          <a:solidFill>
            <a:srgbClr val="007F83">
              <a:alpha val="12000"/>
            </a:srgbClr>
          </a:solidFill>
          <a:ln w="9525">
            <a:solidFill>
              <a:srgbClr val="007F83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4" name="Shape 19"/>
          <p:cNvSpPr/>
          <p:nvPr/>
        </p:nvSpPr>
        <p:spPr>
          <a:xfrm>
            <a:off x="1295400" y="4713238"/>
            <a:ext cx="752475" cy="752475"/>
          </a:xfrm>
          <a:prstGeom prst="ellipse">
            <a:avLst/>
          </a:prstGeom>
          <a:solidFill>
            <a:srgbClr val="7462A6">
              <a:alpha val="22000"/>
            </a:srgbClr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95400" y="4713238"/>
            <a:ext cx="752475" cy="752475"/>
          </a:xfrm>
          <a:prstGeom prst="ellipse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2181225" y="4959400"/>
            <a:ext cx="3071381" cy="2981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1111"/>
              </a:lnSpc>
              <a:buNone/>
            </a:pPr>
            <a:r>
              <a:rPr lang="en-US" sz="1463" b="1" dirty="0">
                <a:solidFill>
                  <a:srgbClr val="2533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Scope EU fulfillment expansion</a:t>
            </a:r>
            <a:endParaRPr lang="en-US" sz="1463" dirty="0"/>
          </a:p>
        </p:txBody>
      </p:sp>
      <p:sp>
        <p:nvSpPr>
          <p:cNvPr id="27" name="Shape 21"/>
          <p:cNvSpPr/>
          <p:nvPr/>
        </p:nvSpPr>
        <p:spPr>
          <a:xfrm>
            <a:off x="838200" y="6037213"/>
            <a:ext cx="5410200" cy="2045791"/>
          </a:xfrm>
          <a:prstGeom prst="roundRect">
            <a:avLst>
              <a:gd name="adj" fmla="val 6518"/>
            </a:avLst>
          </a:prstGeom>
          <a:solidFill>
            <a:srgbClr val="226FBD">
              <a:alpha val="13000"/>
            </a:srgbClr>
          </a:solidFill>
          <a:ln w="9525">
            <a:solidFill>
              <a:srgbClr val="25333A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8" name="Shape 22"/>
          <p:cNvSpPr/>
          <p:nvPr/>
        </p:nvSpPr>
        <p:spPr>
          <a:xfrm>
            <a:off x="1076325" y="6237238"/>
            <a:ext cx="676275" cy="676275"/>
          </a:xfrm>
          <a:prstGeom prst="ellipse">
            <a:avLst/>
          </a:prstGeom>
          <a:solidFill>
            <a:srgbClr val="226FBD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6325" y="6237238"/>
            <a:ext cx="676275" cy="676275"/>
          </a:xfrm>
          <a:prstGeom prst="ellipse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847850" y="6467029"/>
            <a:ext cx="1484367" cy="2547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4792"/>
              </a:lnSpc>
              <a:buNone/>
            </a:pPr>
            <a:r>
              <a:rPr lang="en-US" sz="1313" b="1" kern="0" spc="39" dirty="0">
                <a:solidFill>
                  <a:srgbClr val="226FB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ITEMS TO ALIGN</a:t>
            </a:r>
            <a:endParaRPr lang="en-US" sz="1313" dirty="0"/>
          </a:p>
        </p:txBody>
      </p:sp>
      <p:sp>
        <p:nvSpPr>
          <p:cNvPr id="31" name="Shape 24"/>
          <p:cNvSpPr/>
          <p:nvPr/>
        </p:nvSpPr>
        <p:spPr>
          <a:xfrm>
            <a:off x="1076325" y="6989713"/>
            <a:ext cx="952500" cy="19050"/>
          </a:xfrm>
          <a:prstGeom prst="rect">
            <a:avLst/>
          </a:prstGeom>
          <a:solidFill>
            <a:srgbClr val="226FBD">
              <a:alpha val="33000"/>
            </a:srgb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2" name="Text 25"/>
          <p:cNvSpPr/>
          <p:nvPr/>
        </p:nvSpPr>
        <p:spPr>
          <a:xfrm>
            <a:off x="1076325" y="7123063"/>
            <a:ext cx="5081969" cy="5447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519"/>
              </a:lnSpc>
              <a:buNone/>
            </a:pPr>
            <a:r>
              <a:rPr lang="en-US" sz="1425" dirty="0">
                <a:solidFill>
                  <a:srgbClr val="25333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Confirm data residency requirements for the EU rollout before contracting begins.</a:t>
            </a:r>
            <a:endParaRPr lang="en-US" sz="1425" dirty="0"/>
          </a:p>
        </p:txBody>
      </p:sp>
      <p:sp>
        <p:nvSpPr>
          <p:cNvPr id="33" name="Shape 26"/>
          <p:cNvSpPr/>
          <p:nvPr/>
        </p:nvSpPr>
        <p:spPr>
          <a:xfrm>
            <a:off x="6438900" y="6037213"/>
            <a:ext cx="5410200" cy="2045791"/>
          </a:xfrm>
          <a:prstGeom prst="roundRect">
            <a:avLst>
              <a:gd name="adj" fmla="val 6518"/>
            </a:avLst>
          </a:prstGeom>
          <a:solidFill>
            <a:srgbClr val="007F83">
              <a:alpha val="13000"/>
            </a:srgbClr>
          </a:solidFill>
          <a:ln w="9525">
            <a:solidFill>
              <a:srgbClr val="25333A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4" name="Shape 27"/>
          <p:cNvSpPr/>
          <p:nvPr/>
        </p:nvSpPr>
        <p:spPr>
          <a:xfrm>
            <a:off x="6677025" y="6237238"/>
            <a:ext cx="676275" cy="676275"/>
          </a:xfrm>
          <a:prstGeom prst="ellipse">
            <a:avLst/>
          </a:prstGeom>
          <a:solidFill>
            <a:srgbClr val="007F83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77025" y="6237238"/>
            <a:ext cx="676275" cy="676275"/>
          </a:xfrm>
          <a:prstGeom prst="ellipse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7448550" y="6467029"/>
            <a:ext cx="1517109" cy="2547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4792"/>
              </a:lnSpc>
              <a:buNone/>
            </a:pPr>
            <a:r>
              <a:rPr lang="en-US" sz="1313" b="1" kern="0" spc="39" dirty="0">
                <a:solidFill>
                  <a:srgbClr val="007F8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OPPORTUNITIES</a:t>
            </a:r>
            <a:endParaRPr lang="en-US" sz="1313" dirty="0"/>
          </a:p>
        </p:txBody>
      </p:sp>
      <p:sp>
        <p:nvSpPr>
          <p:cNvPr id="37" name="Shape 29"/>
          <p:cNvSpPr/>
          <p:nvPr/>
        </p:nvSpPr>
        <p:spPr>
          <a:xfrm>
            <a:off x="6677025" y="6989713"/>
            <a:ext cx="1047750" cy="19050"/>
          </a:xfrm>
          <a:prstGeom prst="rect">
            <a:avLst/>
          </a:prstGeom>
          <a:solidFill>
            <a:srgbClr val="007F83">
              <a:alpha val="33000"/>
            </a:srgb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8" name="Text 30"/>
          <p:cNvSpPr/>
          <p:nvPr/>
        </p:nvSpPr>
        <p:spPr>
          <a:xfrm>
            <a:off x="6677025" y="7123063"/>
            <a:ext cx="5081969" cy="7980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519"/>
              </a:lnSpc>
              <a:buNone/>
            </a:pPr>
            <a:r>
              <a:rPr lang="en-US" sz="1425" dirty="0">
                <a:solidFill>
                  <a:srgbClr val="25333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Expansion interest from the EU fulfillment team (est. 120 seats), plus an open feature request for faster segment refresh rates (currently 24h, need near-real-time).</a:t>
            </a:r>
            <a:endParaRPr lang="en-US" sz="1425" dirty="0"/>
          </a:p>
        </p:txBody>
      </p:sp>
      <p:sp>
        <p:nvSpPr>
          <p:cNvPr id="39" name="Shape 31"/>
          <p:cNvSpPr/>
          <p:nvPr/>
        </p:nvSpPr>
        <p:spPr>
          <a:xfrm>
            <a:off x="12039600" y="6037213"/>
            <a:ext cx="5410200" cy="2045791"/>
          </a:xfrm>
          <a:prstGeom prst="roundRect">
            <a:avLst>
              <a:gd name="adj" fmla="val 6518"/>
            </a:avLst>
          </a:prstGeom>
          <a:solidFill>
            <a:srgbClr val="7462A6">
              <a:alpha val="16000"/>
            </a:srgbClr>
          </a:solidFill>
          <a:ln w="9525">
            <a:solidFill>
              <a:srgbClr val="7462A6">
                <a:alpha val="33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0" name="Shape 32"/>
          <p:cNvSpPr/>
          <p:nvPr/>
        </p:nvSpPr>
        <p:spPr>
          <a:xfrm>
            <a:off x="12277725" y="6237238"/>
            <a:ext cx="676275" cy="676275"/>
          </a:xfrm>
          <a:prstGeom prst="ellipse">
            <a:avLst/>
          </a:prstGeom>
          <a:solidFill>
            <a:srgbClr val="7462A6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4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277725" y="6237238"/>
            <a:ext cx="676275" cy="676275"/>
          </a:xfrm>
          <a:prstGeom prst="ellipse">
            <a:avLst/>
          </a:prstGeom>
        </p:spPr>
      </p:pic>
      <p:sp>
        <p:nvSpPr>
          <p:cNvPr id="42" name="Text 33"/>
          <p:cNvSpPr/>
          <p:nvPr/>
        </p:nvSpPr>
        <p:spPr>
          <a:xfrm>
            <a:off x="13049250" y="6467029"/>
            <a:ext cx="1794436" cy="2547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4792"/>
              </a:lnSpc>
              <a:buNone/>
            </a:pPr>
            <a:r>
              <a:rPr lang="en-US" sz="1313" b="1" kern="0" spc="39" dirty="0">
                <a:solidFill>
                  <a:srgbClr val="7462A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RECOMMENDATION</a:t>
            </a:r>
            <a:endParaRPr lang="en-US" sz="1313" dirty="0"/>
          </a:p>
        </p:txBody>
      </p:sp>
      <p:sp>
        <p:nvSpPr>
          <p:cNvPr id="43" name="Shape 34"/>
          <p:cNvSpPr/>
          <p:nvPr/>
        </p:nvSpPr>
        <p:spPr>
          <a:xfrm>
            <a:off x="12277725" y="6989713"/>
            <a:ext cx="1238250" cy="19050"/>
          </a:xfrm>
          <a:prstGeom prst="rect">
            <a:avLst/>
          </a:prstGeom>
          <a:solidFill>
            <a:srgbClr val="7462A6">
              <a:alpha val="33000"/>
            </a:srgb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4" name="Text 35"/>
          <p:cNvSpPr/>
          <p:nvPr/>
        </p:nvSpPr>
        <p:spPr>
          <a:xfrm>
            <a:off x="12277725" y="7123063"/>
            <a:ext cx="5081969" cy="5447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519"/>
              </a:lnSpc>
              <a:buNone/>
            </a:pPr>
            <a:r>
              <a:rPr lang="en-US" sz="1425" dirty="0">
                <a:solidFill>
                  <a:srgbClr val="25333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Introduce a dedicated enablement plan for warehouse ops to close the adoption gap ahead of Q3.</a:t>
            </a:r>
            <a:endParaRPr lang="en-US" sz="1425" dirty="0"/>
          </a:p>
        </p:txBody>
      </p:sp>
      <p:sp>
        <p:nvSpPr>
          <p:cNvPr id="45" name="Shape 36"/>
          <p:cNvSpPr/>
          <p:nvPr/>
        </p:nvSpPr>
        <p:spPr>
          <a:xfrm>
            <a:off x="838200" y="8273504"/>
            <a:ext cx="16611600" cy="691455"/>
          </a:xfrm>
          <a:prstGeom prst="roundRect">
            <a:avLst>
              <a:gd name="adj" fmla="val 16530"/>
            </a:avLst>
          </a:prstGeom>
          <a:solidFill>
            <a:srgbClr val="25333A">
              <a:alpha val="3000"/>
            </a:srgb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6" name="Text 37"/>
          <p:cNvSpPr/>
          <p:nvPr/>
        </p:nvSpPr>
        <p:spPr>
          <a:xfrm>
            <a:off x="1066800" y="8519220"/>
            <a:ext cx="116205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5" b="1" kern="0" spc="56" dirty="0">
                <a:solidFill>
                  <a:srgbClr val="25333A">
                    <a:alpha val="55000"/>
                  </a:srgbClr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STATUS LEGEND</a:t>
            </a:r>
            <a:endParaRPr lang="en-US" sz="1125" dirty="0"/>
          </a:p>
        </p:txBody>
      </p:sp>
      <p:sp>
        <p:nvSpPr>
          <p:cNvPr id="47" name="Shape 38"/>
          <p:cNvSpPr/>
          <p:nvPr/>
        </p:nvSpPr>
        <p:spPr>
          <a:xfrm>
            <a:off x="2495550" y="8571607"/>
            <a:ext cx="95250" cy="95250"/>
          </a:xfrm>
          <a:prstGeom prst="ellipse">
            <a:avLst/>
          </a:prstGeom>
          <a:solidFill>
            <a:srgbClr val="A9E5D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8" name="Text 39"/>
          <p:cNvSpPr/>
          <p:nvPr/>
        </p:nvSpPr>
        <p:spPr>
          <a:xfrm>
            <a:off x="2686050" y="8425904"/>
            <a:ext cx="155247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7500"/>
              </a:lnSpc>
              <a:buNone/>
            </a:pPr>
            <a:r>
              <a:rPr lang="en-US" sz="1313" b="1" dirty="0">
                <a:solidFill>
                  <a:srgbClr val="0A5A4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On Track</a:t>
            </a:r>
            <a:endParaRPr lang="en-US" sz="1313" dirty="0"/>
          </a:p>
        </p:txBody>
      </p:sp>
      <p:sp>
        <p:nvSpPr>
          <p:cNvPr id="49" name="Text 40"/>
          <p:cNvSpPr/>
          <p:nvPr/>
        </p:nvSpPr>
        <p:spPr>
          <a:xfrm>
            <a:off x="2686050" y="8625929"/>
            <a:ext cx="1552471" cy="224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25333A">
                    <a:alpha val="34000"/>
                  </a:srgbClr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On schedule and healthy</a:t>
            </a:r>
            <a:endParaRPr lang="en-US" sz="1050" dirty="0"/>
          </a:p>
        </p:txBody>
      </p:sp>
      <p:sp>
        <p:nvSpPr>
          <p:cNvPr id="50" name="Shape 41"/>
          <p:cNvSpPr/>
          <p:nvPr/>
        </p:nvSpPr>
        <p:spPr>
          <a:xfrm>
            <a:off x="4440287" y="8571607"/>
            <a:ext cx="95250" cy="95250"/>
          </a:xfrm>
          <a:prstGeom prst="ellipse">
            <a:avLst/>
          </a:prstGeom>
          <a:solidFill>
            <a:srgbClr val="226FBD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1" name="Text 42"/>
          <p:cNvSpPr/>
          <p:nvPr/>
        </p:nvSpPr>
        <p:spPr>
          <a:xfrm>
            <a:off x="4630787" y="8425904"/>
            <a:ext cx="168900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7500"/>
              </a:lnSpc>
              <a:buNone/>
            </a:pPr>
            <a:r>
              <a:rPr lang="en-US" sz="1313" b="1" dirty="0">
                <a:solidFill>
                  <a:srgbClr val="226FB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 Progress</a:t>
            </a:r>
            <a:endParaRPr lang="en-US" sz="1313" dirty="0"/>
          </a:p>
        </p:txBody>
      </p:sp>
      <p:sp>
        <p:nvSpPr>
          <p:cNvPr id="52" name="Text 43"/>
          <p:cNvSpPr/>
          <p:nvPr/>
        </p:nvSpPr>
        <p:spPr>
          <a:xfrm>
            <a:off x="4630787" y="8625929"/>
            <a:ext cx="1689006" cy="224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25333A">
                    <a:alpha val="34000"/>
                  </a:srgbClr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Active and moving forward</a:t>
            </a:r>
            <a:endParaRPr lang="en-US" sz="1050" dirty="0"/>
          </a:p>
        </p:txBody>
      </p:sp>
      <p:sp>
        <p:nvSpPr>
          <p:cNvPr id="53" name="Shape 44"/>
          <p:cNvSpPr/>
          <p:nvPr/>
        </p:nvSpPr>
        <p:spPr>
          <a:xfrm>
            <a:off x="6509147" y="8571607"/>
            <a:ext cx="95250" cy="95250"/>
          </a:xfrm>
          <a:prstGeom prst="ellipse">
            <a:avLst/>
          </a:prstGeom>
          <a:solidFill>
            <a:srgbClr val="7462A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4" name="Text 45"/>
          <p:cNvSpPr/>
          <p:nvPr/>
        </p:nvSpPr>
        <p:spPr>
          <a:xfrm>
            <a:off x="6699647" y="8425904"/>
            <a:ext cx="169735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7500"/>
              </a:lnSpc>
              <a:buNone/>
            </a:pPr>
            <a:r>
              <a:rPr lang="en-US" sz="1313" b="1" dirty="0">
                <a:solidFill>
                  <a:srgbClr val="7462A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At Risk</a:t>
            </a:r>
            <a:endParaRPr lang="en-US" sz="1313" dirty="0"/>
          </a:p>
        </p:txBody>
      </p:sp>
      <p:sp>
        <p:nvSpPr>
          <p:cNvPr id="55" name="Text 46"/>
          <p:cNvSpPr/>
          <p:nvPr/>
        </p:nvSpPr>
        <p:spPr>
          <a:xfrm>
            <a:off x="6699647" y="8625929"/>
            <a:ext cx="1697355" cy="224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25333A">
                    <a:alpha val="34000"/>
                  </a:srgbClr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Needs attention or support</a:t>
            </a:r>
            <a:endParaRPr lang="en-US" sz="1050" dirty="0"/>
          </a:p>
        </p:txBody>
      </p:sp>
      <p:sp>
        <p:nvSpPr>
          <p:cNvPr id="56" name="Shape 47"/>
          <p:cNvSpPr/>
          <p:nvPr/>
        </p:nvSpPr>
        <p:spPr>
          <a:xfrm>
            <a:off x="8585597" y="8571607"/>
            <a:ext cx="95250" cy="95250"/>
          </a:xfrm>
          <a:prstGeom prst="ellipse">
            <a:avLst/>
          </a:prstGeom>
          <a:solidFill>
            <a:srgbClr val="25333A">
              <a:alpha val="30000"/>
            </a:srgb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7" name="Text 48"/>
          <p:cNvSpPr/>
          <p:nvPr/>
        </p:nvSpPr>
        <p:spPr>
          <a:xfrm>
            <a:off x="8776097" y="8425904"/>
            <a:ext cx="92273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7500"/>
              </a:lnSpc>
              <a:buNone/>
            </a:pPr>
            <a:r>
              <a:rPr lang="en-US" sz="1313" b="1" dirty="0">
                <a:solidFill>
                  <a:srgbClr val="2533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Planned</a:t>
            </a:r>
            <a:endParaRPr lang="en-US" sz="1313" dirty="0"/>
          </a:p>
        </p:txBody>
      </p:sp>
      <p:sp>
        <p:nvSpPr>
          <p:cNvPr id="58" name="Text 49"/>
          <p:cNvSpPr/>
          <p:nvPr/>
        </p:nvSpPr>
        <p:spPr>
          <a:xfrm>
            <a:off x="8776097" y="8625929"/>
            <a:ext cx="922734" cy="224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25333A">
                    <a:alpha val="34000"/>
                  </a:srgbClr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Not started yet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825" y="457200"/>
            <a:ext cx="2143125" cy="67523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76550" y="586680"/>
            <a:ext cx="3809226" cy="4542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4038"/>
              </a:lnSpc>
              <a:buNone/>
            </a:pPr>
            <a:r>
              <a:rPr lang="en-US" sz="2850" b="1" kern="0" spc="-29" dirty="0">
                <a:solidFill>
                  <a:srgbClr val="2533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Partnership Outlook</a:t>
            </a:r>
            <a:endParaRPr lang="en-US" sz="2850" dirty="0"/>
          </a:p>
        </p:txBody>
      </p:sp>
      <p:sp>
        <p:nvSpPr>
          <p:cNvPr id="4" name="Shape 1"/>
          <p:cNvSpPr/>
          <p:nvPr/>
        </p:nvSpPr>
        <p:spPr>
          <a:xfrm>
            <a:off x="838200" y="1322933"/>
            <a:ext cx="16611600" cy="2225873"/>
          </a:xfrm>
          <a:prstGeom prst="roundRect">
            <a:avLst>
              <a:gd name="adj" fmla="val 6847"/>
            </a:avLst>
          </a:prstGeom>
          <a:gradFill rotWithShape="1">
            <a:gsLst>
              <a:gs pos="0">
                <a:srgbClr val="007F83">
                  <a:alpha val="15000"/>
                </a:srgbClr>
              </a:gs>
              <a:gs pos="50000">
                <a:srgbClr val="226FBD">
                  <a:alpha val="15000"/>
                </a:srgbClr>
              </a:gs>
              <a:gs pos="100000">
                <a:srgbClr val="7462A6">
                  <a:alpha val="1500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de-DE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alphaModFix amt="50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8200" y="1322933"/>
            <a:ext cx="16611600" cy="2225873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1219200" y="1608683"/>
            <a:ext cx="952500" cy="9525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9200" y="1608683"/>
            <a:ext cx="952500" cy="952500"/>
          </a:xfrm>
          <a:prstGeom prst="ellipse">
            <a:avLst/>
          </a:prstGeom>
        </p:spPr>
      </p:pic>
      <p:sp>
        <p:nvSpPr>
          <p:cNvPr id="8" name="Text 3"/>
          <p:cNvSpPr/>
          <p:nvPr/>
        </p:nvSpPr>
        <p:spPr>
          <a:xfrm>
            <a:off x="1219200" y="2675483"/>
            <a:ext cx="5587945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278"/>
              </a:lnSpc>
              <a:buNone/>
            </a:pPr>
            <a:r>
              <a:rPr lang="en-US" sz="1950" b="1" kern="0" spc="-19" dirty="0">
                <a:solidFill>
                  <a:srgbClr val="2533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Drive measurable impact</a:t>
            </a:r>
            <a:endParaRPr lang="en-US" sz="1950" dirty="0"/>
          </a:p>
        </p:txBody>
      </p:sp>
      <p:sp>
        <p:nvSpPr>
          <p:cNvPr id="9" name="Text 4"/>
          <p:cNvSpPr/>
          <p:nvPr/>
        </p:nvSpPr>
        <p:spPr>
          <a:xfrm>
            <a:off x="1219200" y="3061246"/>
            <a:ext cx="5587945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800"/>
              </a:lnSpc>
              <a:buNone/>
            </a:pPr>
            <a:r>
              <a:rPr lang="en-US" sz="1350" dirty="0">
                <a:solidFill>
                  <a:srgbClr val="25333A">
                    <a:alpha val="65000"/>
                  </a:srgbClr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$184K in cost avoidance and a 6-point CSAT gain this quarter.</a:t>
            </a:r>
            <a:endParaRPr lang="en-US" sz="1350" dirty="0"/>
          </a:p>
        </p:txBody>
      </p:sp>
      <p:sp>
        <p:nvSpPr>
          <p:cNvPr id="10" name="Shape 5"/>
          <p:cNvSpPr/>
          <p:nvPr/>
        </p:nvSpPr>
        <p:spPr>
          <a:xfrm>
            <a:off x="6603950" y="1608683"/>
            <a:ext cx="952500" cy="9525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3950" y="1608683"/>
            <a:ext cx="952500" cy="952500"/>
          </a:xfrm>
          <a:prstGeom prst="ellipse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603950" y="2675483"/>
            <a:ext cx="5587945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278"/>
              </a:lnSpc>
              <a:buNone/>
            </a:pPr>
            <a:r>
              <a:rPr lang="en-US" sz="1950" b="1" kern="0" spc="-19" dirty="0">
                <a:solidFill>
                  <a:srgbClr val="2533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Scale what works</a:t>
            </a:r>
            <a:endParaRPr lang="en-US" sz="1950" dirty="0"/>
          </a:p>
        </p:txBody>
      </p:sp>
      <p:sp>
        <p:nvSpPr>
          <p:cNvPr id="13" name="Text 7"/>
          <p:cNvSpPr/>
          <p:nvPr/>
        </p:nvSpPr>
        <p:spPr>
          <a:xfrm>
            <a:off x="6603950" y="3061246"/>
            <a:ext cx="5587945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800"/>
              </a:lnSpc>
              <a:buNone/>
            </a:pPr>
            <a:r>
              <a:rPr lang="en-US" sz="1350" dirty="0">
                <a:solidFill>
                  <a:srgbClr val="25333A">
                    <a:alpha val="65000"/>
                  </a:srgbClr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Extend the adoption gains into warehouse ops and EU fulfillment.</a:t>
            </a:r>
            <a:endParaRPr lang="en-US" sz="1350" dirty="0"/>
          </a:p>
        </p:txBody>
      </p:sp>
      <p:sp>
        <p:nvSpPr>
          <p:cNvPr id="14" name="Shape 8"/>
          <p:cNvSpPr/>
          <p:nvPr/>
        </p:nvSpPr>
        <p:spPr>
          <a:xfrm>
            <a:off x="11988701" y="1608683"/>
            <a:ext cx="952500" cy="9525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988701" y="1608683"/>
            <a:ext cx="952500" cy="952500"/>
          </a:xfrm>
          <a:prstGeom prst="ellipse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1988701" y="2675483"/>
            <a:ext cx="5587945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278"/>
              </a:lnSpc>
              <a:buNone/>
            </a:pPr>
            <a:r>
              <a:rPr lang="en-US" sz="1950" b="1" kern="0" spc="-19" dirty="0">
                <a:solidFill>
                  <a:srgbClr val="2533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Build the future together</a:t>
            </a:r>
            <a:endParaRPr lang="en-US" sz="1950" dirty="0"/>
          </a:p>
        </p:txBody>
      </p:sp>
      <p:sp>
        <p:nvSpPr>
          <p:cNvPr id="17" name="Text 10"/>
          <p:cNvSpPr/>
          <p:nvPr/>
        </p:nvSpPr>
        <p:spPr>
          <a:xfrm>
            <a:off x="11988701" y="3061246"/>
            <a:ext cx="5587945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800"/>
              </a:lnSpc>
              <a:buNone/>
            </a:pPr>
            <a:r>
              <a:rPr lang="en-US" sz="1350" dirty="0">
                <a:solidFill>
                  <a:srgbClr val="25333A">
                    <a:alpha val="65000"/>
                  </a:srgbClr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Two new stakeholders joined this quarter; EU expansion is underway.</a:t>
            </a:r>
            <a:endParaRPr lang="en-US" sz="1350" dirty="0"/>
          </a:p>
        </p:txBody>
      </p:sp>
      <p:sp>
        <p:nvSpPr>
          <p:cNvPr id="18" name="Shape 11"/>
          <p:cNvSpPr/>
          <p:nvPr/>
        </p:nvSpPr>
        <p:spPr>
          <a:xfrm>
            <a:off x="838200" y="3739307"/>
            <a:ext cx="5410200" cy="2366963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9525">
            <a:solidFill>
              <a:srgbClr val="25333A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" name="Shape 12"/>
          <p:cNvSpPr/>
          <p:nvPr/>
        </p:nvSpPr>
        <p:spPr>
          <a:xfrm>
            <a:off x="1057275" y="3939332"/>
            <a:ext cx="676275" cy="676275"/>
          </a:xfrm>
          <a:prstGeom prst="ellipse">
            <a:avLst/>
          </a:prstGeom>
          <a:solidFill>
            <a:srgbClr val="007F83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7275" y="3939332"/>
            <a:ext cx="676275" cy="676275"/>
          </a:xfrm>
          <a:prstGeom prst="ellipse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1828800" y="4162871"/>
            <a:ext cx="1909524" cy="2671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500"/>
              </a:lnSpc>
              <a:buNone/>
            </a:pPr>
            <a:r>
              <a:rPr lang="en-US" sz="1388" b="1" dirty="0">
                <a:solidFill>
                  <a:srgbClr val="2533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Partnership Context</a:t>
            </a:r>
            <a:endParaRPr lang="en-US" sz="1388" dirty="0"/>
          </a:p>
        </p:txBody>
      </p:sp>
      <p:sp>
        <p:nvSpPr>
          <p:cNvPr id="22" name="Text 14"/>
          <p:cNvSpPr/>
          <p:nvPr/>
        </p:nvSpPr>
        <p:spPr>
          <a:xfrm>
            <a:off x="1057275" y="4710857"/>
            <a:ext cx="5121212" cy="5179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800"/>
              </a:lnSpc>
              <a:buNone/>
            </a:pPr>
            <a:r>
              <a:rPr lang="en-US" sz="1350" dirty="0">
                <a:solidFill>
                  <a:srgbClr val="25333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Strong, expanding relationship with active engagement from support and operations leadership. Two new stakeholders joined this quarter.</a:t>
            </a:r>
            <a:endParaRPr lang="en-US" sz="1350" dirty="0"/>
          </a:p>
        </p:txBody>
      </p:sp>
      <p:sp>
        <p:nvSpPr>
          <p:cNvPr id="23" name="Shape 15"/>
          <p:cNvSpPr/>
          <p:nvPr/>
        </p:nvSpPr>
        <p:spPr>
          <a:xfrm>
            <a:off x="6438900" y="3739307"/>
            <a:ext cx="5410200" cy="2366963"/>
          </a:xfrm>
          <a:prstGeom prst="roundRect">
            <a:avLst>
              <a:gd name="adj" fmla="val 5634"/>
            </a:avLst>
          </a:prstGeom>
          <a:solidFill>
            <a:srgbClr val="226FBD">
              <a:alpha val="14000"/>
            </a:srgbClr>
          </a:solidFill>
          <a:ln w="9525">
            <a:solidFill>
              <a:srgbClr val="25333A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4" name="Shape 16"/>
          <p:cNvSpPr/>
          <p:nvPr/>
        </p:nvSpPr>
        <p:spPr>
          <a:xfrm>
            <a:off x="6657975" y="3939332"/>
            <a:ext cx="676275" cy="676275"/>
          </a:xfrm>
          <a:prstGeom prst="ellipse">
            <a:avLst/>
          </a:prstGeom>
          <a:solidFill>
            <a:srgbClr val="226FBD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57975" y="3939332"/>
            <a:ext cx="676275" cy="676275"/>
          </a:xfrm>
          <a:prstGeom prst="ellipse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7429500" y="4162871"/>
            <a:ext cx="2869853" cy="2671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500"/>
              </a:lnSpc>
              <a:buNone/>
            </a:pPr>
            <a:r>
              <a:rPr lang="en-US" sz="1388" b="1" dirty="0">
                <a:solidFill>
                  <a:srgbClr val="226FB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Commercial / Renewal Outlook</a:t>
            </a:r>
            <a:endParaRPr lang="en-US" sz="1388" dirty="0"/>
          </a:p>
        </p:txBody>
      </p:sp>
      <p:sp>
        <p:nvSpPr>
          <p:cNvPr id="27" name="Text 18"/>
          <p:cNvSpPr/>
          <p:nvPr/>
        </p:nvSpPr>
        <p:spPr>
          <a:xfrm>
            <a:off x="6657975" y="4710857"/>
            <a:ext cx="5469255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800"/>
              </a:lnSpc>
              <a:buNone/>
            </a:pPr>
            <a:r>
              <a:rPr lang="en-US" sz="1350" dirty="0">
                <a:solidFill>
                  <a:srgbClr val="25333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On track for renewal at the current Growth tier.</a:t>
            </a:r>
            <a:endParaRPr lang="en-US" sz="1350" dirty="0"/>
          </a:p>
        </p:txBody>
      </p:sp>
      <p:sp>
        <p:nvSpPr>
          <p:cNvPr id="28" name="Shape 19"/>
          <p:cNvSpPr/>
          <p:nvPr/>
        </p:nvSpPr>
        <p:spPr>
          <a:xfrm>
            <a:off x="6657975" y="5046018"/>
            <a:ext cx="2100560" cy="271463"/>
          </a:xfrm>
          <a:prstGeom prst="roundRect">
            <a:avLst>
              <a:gd name="adj" fmla="val 50000"/>
            </a:avLst>
          </a:prstGeom>
          <a:solidFill>
            <a:srgbClr val="226FBD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9" name="Text 20"/>
          <p:cNvSpPr/>
          <p:nvPr/>
        </p:nvSpPr>
        <p:spPr>
          <a:xfrm>
            <a:off x="6791325" y="5112693"/>
            <a:ext cx="1910060" cy="17621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76316"/>
              </a:lnSpc>
              <a:buNone/>
            </a:pPr>
            <a:r>
              <a:rPr lang="en-US" sz="1088" b="1" kern="0" spc="22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+120 seats expansion (EU)</a:t>
            </a:r>
            <a:endParaRPr lang="en-US" sz="1088" dirty="0"/>
          </a:p>
        </p:txBody>
      </p:sp>
      <p:sp>
        <p:nvSpPr>
          <p:cNvPr id="30" name="Shape 21"/>
          <p:cNvSpPr/>
          <p:nvPr/>
        </p:nvSpPr>
        <p:spPr>
          <a:xfrm>
            <a:off x="12039600" y="3739307"/>
            <a:ext cx="5410200" cy="2366963"/>
          </a:xfrm>
          <a:prstGeom prst="roundRect">
            <a:avLst>
              <a:gd name="adj" fmla="val 5634"/>
            </a:avLst>
          </a:prstGeom>
          <a:solidFill>
            <a:srgbClr val="7462A6">
              <a:alpha val="13000"/>
            </a:srgbClr>
          </a:solidFill>
          <a:ln w="9525">
            <a:solidFill>
              <a:srgbClr val="25333A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1" name="Shape 22"/>
          <p:cNvSpPr/>
          <p:nvPr/>
        </p:nvSpPr>
        <p:spPr>
          <a:xfrm>
            <a:off x="12258675" y="3939332"/>
            <a:ext cx="676275" cy="676275"/>
          </a:xfrm>
          <a:prstGeom prst="ellipse">
            <a:avLst/>
          </a:prstGeom>
          <a:solidFill>
            <a:srgbClr val="7462A6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258675" y="3939332"/>
            <a:ext cx="676275" cy="676275"/>
          </a:xfrm>
          <a:prstGeom prst="ellipse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13030200" y="4162871"/>
            <a:ext cx="2273618" cy="2671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500"/>
              </a:lnSpc>
              <a:buNone/>
            </a:pPr>
            <a:r>
              <a:rPr lang="en-US" sz="1388" b="1" dirty="0">
                <a:solidFill>
                  <a:srgbClr val="7462A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Documented Next Steps</a:t>
            </a:r>
            <a:endParaRPr lang="en-US" sz="1388" dirty="0"/>
          </a:p>
        </p:txBody>
      </p:sp>
      <p:sp>
        <p:nvSpPr>
          <p:cNvPr id="34" name="Shape 24"/>
          <p:cNvSpPr/>
          <p:nvPr/>
        </p:nvSpPr>
        <p:spPr>
          <a:xfrm>
            <a:off x="12258675" y="4806107"/>
            <a:ext cx="47625" cy="47625"/>
          </a:xfrm>
          <a:prstGeom prst="ellipse">
            <a:avLst/>
          </a:prstGeom>
          <a:solidFill>
            <a:srgbClr val="7462A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5" name="Text 25"/>
          <p:cNvSpPr/>
          <p:nvPr/>
        </p:nvSpPr>
        <p:spPr>
          <a:xfrm>
            <a:off x="12411075" y="4691807"/>
            <a:ext cx="2979249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350" dirty="0">
                <a:solidFill>
                  <a:srgbClr val="25333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Confirm EU data residency requirements</a:t>
            </a:r>
            <a:endParaRPr lang="en-US" sz="1350" dirty="0"/>
          </a:p>
        </p:txBody>
      </p:sp>
      <p:sp>
        <p:nvSpPr>
          <p:cNvPr id="36" name="Shape 26"/>
          <p:cNvSpPr/>
          <p:nvPr/>
        </p:nvSpPr>
        <p:spPr>
          <a:xfrm>
            <a:off x="12258675" y="5296644"/>
            <a:ext cx="47625" cy="47625"/>
          </a:xfrm>
          <a:prstGeom prst="ellipse">
            <a:avLst/>
          </a:prstGeom>
          <a:solidFill>
            <a:srgbClr val="7462A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7" name="Text 27"/>
          <p:cNvSpPr/>
          <p:nvPr/>
        </p:nvSpPr>
        <p:spPr>
          <a:xfrm>
            <a:off x="12411075" y="5182344"/>
            <a:ext cx="3204743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350" dirty="0">
                <a:solidFill>
                  <a:srgbClr val="25333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Schedule Rotterdam enablement workshop</a:t>
            </a:r>
            <a:endParaRPr lang="en-US" sz="1350" dirty="0"/>
          </a:p>
        </p:txBody>
      </p:sp>
      <p:sp>
        <p:nvSpPr>
          <p:cNvPr id="38" name="Shape 28"/>
          <p:cNvSpPr/>
          <p:nvPr/>
        </p:nvSpPr>
        <p:spPr>
          <a:xfrm>
            <a:off x="12258675" y="5787182"/>
            <a:ext cx="47625" cy="47625"/>
          </a:xfrm>
          <a:prstGeom prst="ellipse">
            <a:avLst/>
          </a:prstGeom>
          <a:solidFill>
            <a:srgbClr val="7462A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9" name="Text 29"/>
          <p:cNvSpPr/>
          <p:nvPr/>
        </p:nvSpPr>
        <p:spPr>
          <a:xfrm>
            <a:off x="12411075" y="5672882"/>
            <a:ext cx="3259162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350" dirty="0">
                <a:solidFill>
                  <a:srgbClr val="25333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Finalize Q3 renewal terms with procurement</a:t>
            </a:r>
            <a:endParaRPr lang="en-US" sz="1350" dirty="0"/>
          </a:p>
        </p:txBody>
      </p:sp>
      <p:sp>
        <p:nvSpPr>
          <p:cNvPr id="40" name="Shape 30"/>
          <p:cNvSpPr/>
          <p:nvPr/>
        </p:nvSpPr>
        <p:spPr>
          <a:xfrm>
            <a:off x="838200" y="6296769"/>
            <a:ext cx="16611600" cy="1409700"/>
          </a:xfrm>
          <a:prstGeom prst="roundRect">
            <a:avLst>
              <a:gd name="adj" fmla="val 9459"/>
            </a:avLst>
          </a:prstGeom>
          <a:solidFill>
            <a:srgbClr val="0F6B6E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41" name="Image 8" descr="preencoded.png"/>
          <p:cNvPicPr>
            <a:picLocks noChangeAspect="1"/>
          </p:cNvPicPr>
          <p:nvPr/>
        </p:nvPicPr>
        <p:blipFill>
          <a:blip>
            <a:alphaModFix amt="18000"/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5640050" y="5725269"/>
            <a:ext cx="2095500" cy="2095500"/>
          </a:xfrm>
          <a:prstGeom prst="rect">
            <a:avLst/>
          </a:prstGeom>
        </p:spPr>
      </p:pic>
      <p:sp>
        <p:nvSpPr>
          <p:cNvPr id="42" name="Shape 31"/>
          <p:cNvSpPr/>
          <p:nvPr/>
        </p:nvSpPr>
        <p:spPr>
          <a:xfrm>
            <a:off x="1181100" y="6544419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43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81100" y="6544419"/>
            <a:ext cx="914400" cy="914400"/>
          </a:xfrm>
          <a:prstGeom prst="ellipse">
            <a:avLst/>
          </a:prstGeom>
        </p:spPr>
      </p:pic>
      <p:sp>
        <p:nvSpPr>
          <p:cNvPr id="44" name="Text 32"/>
          <p:cNvSpPr/>
          <p:nvPr/>
        </p:nvSpPr>
        <p:spPr>
          <a:xfrm>
            <a:off x="2247900" y="6840587"/>
            <a:ext cx="5378395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3889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Thank you for your partnership and trust.</a:t>
            </a:r>
            <a:endParaRPr lang="en-US" sz="1950" dirty="0"/>
          </a:p>
        </p:txBody>
      </p:sp>
      <p:pic>
        <p:nvPicPr>
          <p:cNvPr id="45" name="Image 10" descr="preencoded.png"/>
          <p:cNvPicPr>
            <a:picLocks noChangeAspect="1"/>
          </p:cNvPicPr>
          <p:nvPr/>
        </p:nvPicPr>
        <p:blipFill>
          <a:blip r:embed="rId3">
            <a:alphaModFix amt="90000"/>
          </a:blip>
          <a:stretch>
            <a:fillRect/>
          </a:stretch>
        </p:blipFill>
        <p:spPr>
          <a:xfrm>
            <a:off x="15678150" y="6776442"/>
            <a:ext cx="1428750" cy="45020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825" y="457200"/>
            <a:ext cx="2143125" cy="67523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76550" y="586680"/>
            <a:ext cx="3823633" cy="4542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4038"/>
              </a:lnSpc>
              <a:buNone/>
            </a:pPr>
            <a:r>
              <a:rPr lang="en-US" sz="2850" b="1" kern="0" spc="-29" dirty="0">
                <a:solidFill>
                  <a:srgbClr val="2533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Evidence / Appendix</a:t>
            </a:r>
            <a:endParaRPr lang="en-US" sz="2850" dirty="0"/>
          </a:p>
        </p:txBody>
      </p:sp>
      <p:sp>
        <p:nvSpPr>
          <p:cNvPr id="4" name="Shape 1"/>
          <p:cNvSpPr/>
          <p:nvPr/>
        </p:nvSpPr>
        <p:spPr>
          <a:xfrm>
            <a:off x="838200" y="1361033"/>
            <a:ext cx="5410200" cy="1276350"/>
          </a:xfrm>
          <a:prstGeom prst="roundRect">
            <a:avLst>
              <a:gd name="adj" fmla="val 10448"/>
            </a:avLst>
          </a:prstGeom>
          <a:solidFill>
            <a:srgbClr val="007F83">
              <a:alpha val="14000"/>
            </a:srgbClr>
          </a:solidFill>
          <a:ln w="9525">
            <a:solidFill>
              <a:srgbClr val="007F83">
                <a:alpha val="26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Shape 2"/>
          <p:cNvSpPr/>
          <p:nvPr/>
        </p:nvSpPr>
        <p:spPr>
          <a:xfrm>
            <a:off x="1057275" y="1542008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7275" y="1542008"/>
            <a:ext cx="914400" cy="914400"/>
          </a:xfrm>
          <a:prstGeom prst="ellipse">
            <a:avLst/>
          </a:prstGeom>
        </p:spPr>
      </p:pic>
      <p:sp>
        <p:nvSpPr>
          <p:cNvPr id="7" name="Text 3"/>
          <p:cNvSpPr/>
          <p:nvPr/>
        </p:nvSpPr>
        <p:spPr>
          <a:xfrm>
            <a:off x="2162175" y="1699617"/>
            <a:ext cx="1773153" cy="248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6087"/>
              </a:lnSpc>
              <a:buNone/>
            </a:pPr>
            <a:r>
              <a:rPr lang="en-US" sz="1275" b="1" dirty="0">
                <a:solidFill>
                  <a:srgbClr val="2533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Avg. Resolution Time</a:t>
            </a:r>
            <a:endParaRPr lang="en-US" sz="1275" dirty="0"/>
          </a:p>
        </p:txBody>
      </p:sp>
      <p:sp>
        <p:nvSpPr>
          <p:cNvPr id="8" name="Text 4"/>
          <p:cNvSpPr/>
          <p:nvPr/>
        </p:nvSpPr>
        <p:spPr>
          <a:xfrm>
            <a:off x="2162175" y="1881485"/>
            <a:ext cx="742206" cy="4762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696"/>
              </a:lnSpc>
              <a:buNone/>
            </a:pPr>
            <a:r>
              <a:rPr lang="en-US" sz="2550" b="1" kern="0" spc="-25" dirty="0">
                <a:solidFill>
                  <a:srgbClr val="007F8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3.5h</a:t>
            </a:r>
            <a:endParaRPr lang="en-US" sz="2550" dirty="0"/>
          </a:p>
        </p:txBody>
      </p:sp>
      <p:sp>
        <p:nvSpPr>
          <p:cNvPr id="9" name="Shape 5"/>
          <p:cNvSpPr/>
          <p:nvPr/>
        </p:nvSpPr>
        <p:spPr>
          <a:xfrm>
            <a:off x="6438900" y="1361033"/>
            <a:ext cx="5410200" cy="1276350"/>
          </a:xfrm>
          <a:prstGeom prst="roundRect">
            <a:avLst>
              <a:gd name="adj" fmla="val 10448"/>
            </a:avLst>
          </a:prstGeom>
          <a:solidFill>
            <a:srgbClr val="226FBD">
              <a:alpha val="16000"/>
            </a:srgbClr>
          </a:solidFill>
          <a:ln w="9525">
            <a:solidFill>
              <a:srgbClr val="226FBD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Shape 6"/>
          <p:cNvSpPr/>
          <p:nvPr/>
        </p:nvSpPr>
        <p:spPr>
          <a:xfrm>
            <a:off x="6657975" y="1542008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7975" y="1542008"/>
            <a:ext cx="914400" cy="914400"/>
          </a:xfrm>
          <a:prstGeom prst="ellipse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762875" y="1699617"/>
            <a:ext cx="1460793" cy="248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6087"/>
              </a:lnSpc>
              <a:buNone/>
            </a:pPr>
            <a:r>
              <a:rPr lang="en-US" sz="1275" b="1" dirty="0">
                <a:solidFill>
                  <a:srgbClr val="2533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Ticket Deflection</a:t>
            </a:r>
            <a:endParaRPr lang="en-US" sz="1275" dirty="0"/>
          </a:p>
        </p:txBody>
      </p:sp>
      <p:sp>
        <p:nvSpPr>
          <p:cNvPr id="13" name="Text 8"/>
          <p:cNvSpPr/>
          <p:nvPr/>
        </p:nvSpPr>
        <p:spPr>
          <a:xfrm>
            <a:off x="7762875" y="1881485"/>
            <a:ext cx="756493" cy="4762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696"/>
              </a:lnSpc>
              <a:buNone/>
            </a:pPr>
            <a:r>
              <a:rPr lang="en-US" sz="2550" b="1" kern="0" spc="-25" dirty="0">
                <a:solidFill>
                  <a:srgbClr val="226FB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46%</a:t>
            </a:r>
            <a:endParaRPr lang="en-US" sz="2550" dirty="0"/>
          </a:p>
        </p:txBody>
      </p:sp>
      <p:sp>
        <p:nvSpPr>
          <p:cNvPr id="14" name="Shape 9"/>
          <p:cNvSpPr/>
          <p:nvPr/>
        </p:nvSpPr>
        <p:spPr>
          <a:xfrm>
            <a:off x="12039600" y="1361033"/>
            <a:ext cx="5410200" cy="1276350"/>
          </a:xfrm>
          <a:prstGeom prst="roundRect">
            <a:avLst>
              <a:gd name="adj" fmla="val 10448"/>
            </a:avLst>
          </a:prstGeom>
          <a:solidFill>
            <a:srgbClr val="A9E5D3">
              <a:alpha val="28000"/>
            </a:srgbClr>
          </a:solidFill>
          <a:ln w="9525">
            <a:solidFill>
              <a:srgbClr val="007F83">
                <a:alpha val="23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" name="Shape 10"/>
          <p:cNvSpPr/>
          <p:nvPr/>
        </p:nvSpPr>
        <p:spPr>
          <a:xfrm>
            <a:off x="12258675" y="1542008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58675" y="1542008"/>
            <a:ext cx="914400" cy="914400"/>
          </a:xfrm>
          <a:prstGeom prst="ellipse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3363575" y="1591270"/>
            <a:ext cx="586978" cy="248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6087"/>
              </a:lnSpc>
              <a:buNone/>
            </a:pPr>
            <a:r>
              <a:rPr lang="en-US" sz="1275" b="1" dirty="0">
                <a:solidFill>
                  <a:srgbClr val="2533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NPS</a:t>
            </a:r>
            <a:endParaRPr lang="en-US" sz="1275" dirty="0"/>
          </a:p>
        </p:txBody>
      </p:sp>
      <p:sp>
        <p:nvSpPr>
          <p:cNvPr id="18" name="Text 12"/>
          <p:cNvSpPr/>
          <p:nvPr/>
        </p:nvSpPr>
        <p:spPr>
          <a:xfrm>
            <a:off x="13363575" y="1773138"/>
            <a:ext cx="459730" cy="4762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8696"/>
              </a:lnSpc>
              <a:buNone/>
            </a:pPr>
            <a:r>
              <a:rPr lang="en-US" sz="2550" b="1" kern="0" spc="-25" dirty="0">
                <a:solidFill>
                  <a:srgbClr val="007F8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42</a:t>
            </a:r>
            <a:endParaRPr lang="en-US" sz="2550" dirty="0"/>
          </a:p>
        </p:txBody>
      </p:sp>
      <p:sp>
        <p:nvSpPr>
          <p:cNvPr id="19" name="Text 13"/>
          <p:cNvSpPr/>
          <p:nvPr/>
        </p:nvSpPr>
        <p:spPr>
          <a:xfrm>
            <a:off x="13363575" y="2190304"/>
            <a:ext cx="586978" cy="2547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1000"/>
              </a:lnSpc>
              <a:buNone/>
            </a:pPr>
            <a:r>
              <a:rPr lang="en-US" sz="1313" dirty="0">
                <a:solidFill>
                  <a:srgbClr val="25333A">
                    <a:alpha val="50000"/>
                  </a:srgbClr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+5 QoQ</a:t>
            </a:r>
            <a:endParaRPr lang="en-US" sz="1313" dirty="0"/>
          </a:p>
        </p:txBody>
      </p:sp>
      <p:sp>
        <p:nvSpPr>
          <p:cNvPr id="20" name="Shape 14"/>
          <p:cNvSpPr/>
          <p:nvPr/>
        </p:nvSpPr>
        <p:spPr>
          <a:xfrm>
            <a:off x="838200" y="2827883"/>
            <a:ext cx="9852571" cy="3975199"/>
          </a:xfrm>
          <a:prstGeom prst="roundRect">
            <a:avLst>
              <a:gd name="adj" fmla="val 3355"/>
            </a:avLst>
          </a:prstGeom>
          <a:solidFill>
            <a:srgbClr val="FFFFFF"/>
          </a:solidFill>
          <a:ln w="9525">
            <a:solidFill>
              <a:srgbClr val="25333A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" name="Text 15"/>
          <p:cNvSpPr/>
          <p:nvPr/>
        </p:nvSpPr>
        <p:spPr>
          <a:xfrm>
            <a:off x="1095375" y="3066008"/>
            <a:ext cx="10272043" cy="2918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179"/>
              </a:lnSpc>
              <a:buNone/>
            </a:pPr>
            <a:r>
              <a:rPr lang="en-US" sz="1538" b="1" dirty="0">
                <a:solidFill>
                  <a:srgbClr val="2533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Previous Interventions / Evidence</a:t>
            </a:r>
            <a:endParaRPr lang="en-US" sz="1538" dirty="0"/>
          </a:p>
        </p:txBody>
      </p:sp>
      <p:sp>
        <p:nvSpPr>
          <p:cNvPr id="22" name="Shape 16"/>
          <p:cNvSpPr/>
          <p:nvPr/>
        </p:nvSpPr>
        <p:spPr>
          <a:xfrm>
            <a:off x="1143000" y="3472160"/>
            <a:ext cx="9525" cy="635198"/>
          </a:xfrm>
          <a:prstGeom prst="rect">
            <a:avLst/>
          </a:prstGeom>
          <a:solidFill>
            <a:srgbClr val="007F83">
              <a:alpha val="33000"/>
            </a:srgb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3" name="Shape 17"/>
          <p:cNvSpPr/>
          <p:nvPr/>
        </p:nvSpPr>
        <p:spPr>
          <a:xfrm>
            <a:off x="1090613" y="3491210"/>
            <a:ext cx="95250" cy="95250"/>
          </a:xfrm>
          <a:prstGeom prst="ellipse">
            <a:avLst/>
          </a:prstGeom>
          <a:solidFill>
            <a:srgbClr val="007F8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4" name="Text 18"/>
          <p:cNvSpPr/>
          <p:nvPr/>
        </p:nvSpPr>
        <p:spPr>
          <a:xfrm>
            <a:off x="1400175" y="3472160"/>
            <a:ext cx="9936763" cy="2266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6087"/>
              </a:lnSpc>
              <a:buNone/>
            </a:pPr>
            <a:r>
              <a:rPr lang="en-US" sz="1238" b="1" kern="0" spc="25" dirty="0">
                <a:solidFill>
                  <a:srgbClr val="007F8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Q1 2026 · Jan</a:t>
            </a:r>
            <a:endParaRPr lang="en-US" sz="1238" dirty="0"/>
          </a:p>
        </p:txBody>
      </p:sp>
      <p:sp>
        <p:nvSpPr>
          <p:cNvPr id="25" name="Text 19"/>
          <p:cNvSpPr/>
          <p:nvPr/>
        </p:nvSpPr>
        <p:spPr>
          <a:xfrm>
            <a:off x="1400175" y="3689300"/>
            <a:ext cx="9936763" cy="2847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9615"/>
              </a:lnSpc>
              <a:buNone/>
            </a:pPr>
            <a:r>
              <a:rPr lang="en-US" sz="1388" dirty="0">
                <a:solidFill>
                  <a:srgbClr val="25333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Onboarding workshop for the support team — covered ticket routing rules and escalation paths.</a:t>
            </a:r>
            <a:endParaRPr lang="en-US" sz="1388" dirty="0"/>
          </a:p>
        </p:txBody>
      </p:sp>
      <p:sp>
        <p:nvSpPr>
          <p:cNvPr id="26" name="Shape 20"/>
          <p:cNvSpPr/>
          <p:nvPr/>
        </p:nvSpPr>
        <p:spPr>
          <a:xfrm>
            <a:off x="1143000" y="4126409"/>
            <a:ext cx="9525" cy="635198"/>
          </a:xfrm>
          <a:prstGeom prst="rect">
            <a:avLst/>
          </a:prstGeom>
          <a:solidFill>
            <a:srgbClr val="007F83">
              <a:alpha val="33000"/>
            </a:srgb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7" name="Shape 21"/>
          <p:cNvSpPr/>
          <p:nvPr/>
        </p:nvSpPr>
        <p:spPr>
          <a:xfrm>
            <a:off x="1090613" y="4145459"/>
            <a:ext cx="95250" cy="95250"/>
          </a:xfrm>
          <a:prstGeom prst="ellipse">
            <a:avLst/>
          </a:prstGeom>
          <a:solidFill>
            <a:srgbClr val="007F8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8" name="Text 22"/>
          <p:cNvSpPr/>
          <p:nvPr/>
        </p:nvSpPr>
        <p:spPr>
          <a:xfrm>
            <a:off x="1400175" y="4126409"/>
            <a:ext cx="9936763" cy="2266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6087"/>
              </a:lnSpc>
              <a:buNone/>
            </a:pPr>
            <a:r>
              <a:rPr lang="en-US" sz="1238" b="1" kern="0" spc="25" dirty="0">
                <a:solidFill>
                  <a:srgbClr val="007F8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Q1 2026 · Mar</a:t>
            </a:r>
            <a:endParaRPr lang="en-US" sz="1238" dirty="0"/>
          </a:p>
        </p:txBody>
      </p:sp>
      <p:sp>
        <p:nvSpPr>
          <p:cNvPr id="29" name="Text 23"/>
          <p:cNvSpPr/>
          <p:nvPr/>
        </p:nvSpPr>
        <p:spPr>
          <a:xfrm>
            <a:off x="1400175" y="4343549"/>
            <a:ext cx="9936763" cy="2847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9615"/>
              </a:lnSpc>
              <a:buNone/>
            </a:pPr>
            <a:r>
              <a:rPr lang="en-US" sz="1388" dirty="0">
                <a:solidFill>
                  <a:srgbClr val="25333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SSO technical scoping session — aligned on SAML config and rollout phasing.</a:t>
            </a:r>
            <a:endParaRPr lang="en-US" sz="1388" dirty="0"/>
          </a:p>
        </p:txBody>
      </p:sp>
      <p:sp>
        <p:nvSpPr>
          <p:cNvPr id="30" name="Shape 24"/>
          <p:cNvSpPr/>
          <p:nvPr/>
        </p:nvSpPr>
        <p:spPr>
          <a:xfrm>
            <a:off x="1143000" y="4780657"/>
            <a:ext cx="9525" cy="635198"/>
          </a:xfrm>
          <a:prstGeom prst="rect">
            <a:avLst/>
          </a:prstGeom>
          <a:solidFill>
            <a:srgbClr val="226FBD">
              <a:alpha val="33000"/>
            </a:srgb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1" name="Shape 25"/>
          <p:cNvSpPr/>
          <p:nvPr/>
        </p:nvSpPr>
        <p:spPr>
          <a:xfrm>
            <a:off x="1090613" y="4799707"/>
            <a:ext cx="95250" cy="95250"/>
          </a:xfrm>
          <a:prstGeom prst="ellipse">
            <a:avLst/>
          </a:prstGeom>
          <a:solidFill>
            <a:srgbClr val="226FBD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2" name="Text 26"/>
          <p:cNvSpPr/>
          <p:nvPr/>
        </p:nvSpPr>
        <p:spPr>
          <a:xfrm>
            <a:off x="1400175" y="4780657"/>
            <a:ext cx="9936763" cy="2266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6087"/>
              </a:lnSpc>
              <a:buNone/>
            </a:pPr>
            <a:r>
              <a:rPr lang="en-US" sz="1238" b="1" kern="0" spc="25" dirty="0">
                <a:solidFill>
                  <a:srgbClr val="226FB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Q2 2026 · Apr</a:t>
            </a:r>
            <a:endParaRPr lang="en-US" sz="1238" dirty="0"/>
          </a:p>
        </p:txBody>
      </p:sp>
      <p:sp>
        <p:nvSpPr>
          <p:cNvPr id="33" name="Text 27"/>
          <p:cNvSpPr/>
          <p:nvPr/>
        </p:nvSpPr>
        <p:spPr>
          <a:xfrm>
            <a:off x="1400175" y="4997797"/>
            <a:ext cx="9936763" cy="2847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9615"/>
              </a:lnSpc>
              <a:buNone/>
            </a:pPr>
            <a:r>
              <a:rPr lang="en-US" sz="1388" dirty="0">
                <a:solidFill>
                  <a:srgbClr val="25333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Warehouse ops kickoff call — introduced the mobile-scanning module.</a:t>
            </a:r>
            <a:endParaRPr lang="en-US" sz="1388" dirty="0"/>
          </a:p>
        </p:txBody>
      </p:sp>
      <p:sp>
        <p:nvSpPr>
          <p:cNvPr id="34" name="Shape 28"/>
          <p:cNvSpPr/>
          <p:nvPr/>
        </p:nvSpPr>
        <p:spPr>
          <a:xfrm>
            <a:off x="1081088" y="5453955"/>
            <a:ext cx="95250" cy="95250"/>
          </a:xfrm>
          <a:prstGeom prst="ellipse">
            <a:avLst/>
          </a:prstGeom>
          <a:solidFill>
            <a:srgbClr val="226FBD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5" name="Text 29"/>
          <p:cNvSpPr/>
          <p:nvPr/>
        </p:nvSpPr>
        <p:spPr>
          <a:xfrm>
            <a:off x="1390650" y="5434905"/>
            <a:ext cx="9947240" cy="2266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6087"/>
              </a:lnSpc>
              <a:buNone/>
            </a:pPr>
            <a:r>
              <a:rPr lang="en-US" sz="1238" b="1" kern="0" spc="25" dirty="0">
                <a:solidFill>
                  <a:srgbClr val="226FB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Q2 2026 · May</a:t>
            </a:r>
            <a:endParaRPr lang="en-US" sz="1238" dirty="0"/>
          </a:p>
        </p:txBody>
      </p:sp>
      <p:sp>
        <p:nvSpPr>
          <p:cNvPr id="36" name="Text 30"/>
          <p:cNvSpPr/>
          <p:nvPr/>
        </p:nvSpPr>
        <p:spPr>
          <a:xfrm>
            <a:off x="1390650" y="5652046"/>
            <a:ext cx="9947240" cy="2847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9615"/>
              </a:lnSpc>
              <a:buNone/>
            </a:pPr>
            <a:r>
              <a:rPr lang="en-US" sz="1388" dirty="0">
                <a:solidFill>
                  <a:srgbClr val="25333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Mid-quarter health check — flagged the warehouse adoption gap early.</a:t>
            </a:r>
            <a:endParaRPr lang="en-US" sz="1388" dirty="0"/>
          </a:p>
        </p:txBody>
      </p:sp>
      <p:sp>
        <p:nvSpPr>
          <p:cNvPr id="37" name="Shape 31"/>
          <p:cNvSpPr/>
          <p:nvPr/>
        </p:nvSpPr>
        <p:spPr>
          <a:xfrm>
            <a:off x="10881271" y="2827883"/>
            <a:ext cx="6568529" cy="3975199"/>
          </a:xfrm>
          <a:prstGeom prst="roundRect">
            <a:avLst>
              <a:gd name="adj" fmla="val 3355"/>
            </a:avLst>
          </a:prstGeom>
          <a:solidFill>
            <a:srgbClr val="FFFFFF"/>
          </a:solidFill>
          <a:ln w="9525">
            <a:solidFill>
              <a:srgbClr val="25333A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8" name="Text 32"/>
          <p:cNvSpPr/>
          <p:nvPr/>
        </p:nvSpPr>
        <p:spPr>
          <a:xfrm>
            <a:off x="11119396" y="3046958"/>
            <a:ext cx="6701507" cy="2794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3889"/>
              </a:lnSpc>
              <a:buNone/>
            </a:pPr>
            <a:r>
              <a:rPr lang="en-US" sz="1463" b="1" dirty="0">
                <a:solidFill>
                  <a:srgbClr val="2533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Sources</a:t>
            </a:r>
            <a:endParaRPr lang="en-US" sz="1463" dirty="0"/>
          </a:p>
        </p:txBody>
      </p:sp>
      <p:sp>
        <p:nvSpPr>
          <p:cNvPr id="39" name="Shape 33"/>
          <p:cNvSpPr/>
          <p:nvPr/>
        </p:nvSpPr>
        <p:spPr>
          <a:xfrm>
            <a:off x="11119396" y="3421707"/>
            <a:ext cx="676275" cy="676275"/>
          </a:xfrm>
          <a:prstGeom prst="ellipse">
            <a:avLst/>
          </a:prstGeom>
          <a:solidFill>
            <a:srgbClr val="007F83">
              <a:alpha val="18000"/>
            </a:srgbClr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4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19396" y="3421707"/>
            <a:ext cx="676275" cy="676275"/>
          </a:xfrm>
          <a:prstGeom prst="ellipse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11909971" y="3631257"/>
            <a:ext cx="5460755" cy="26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3600"/>
              </a:lnSpc>
              <a:buNone/>
            </a:pPr>
            <a:r>
              <a:rPr lang="en-US" sz="1350" dirty="0">
                <a:solidFill>
                  <a:srgbClr val="25333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Product usage analytics (Apr–Jun 2026)</a:t>
            </a:r>
            <a:endParaRPr lang="en-US" sz="1350" dirty="0"/>
          </a:p>
        </p:txBody>
      </p:sp>
      <p:sp>
        <p:nvSpPr>
          <p:cNvPr id="42" name="Shape 35"/>
          <p:cNvSpPr/>
          <p:nvPr/>
        </p:nvSpPr>
        <p:spPr>
          <a:xfrm>
            <a:off x="11119396" y="4250382"/>
            <a:ext cx="676275" cy="676275"/>
          </a:xfrm>
          <a:prstGeom prst="ellipse">
            <a:avLst/>
          </a:prstGeom>
          <a:solidFill>
            <a:srgbClr val="226FBD">
              <a:alpha val="18000"/>
            </a:srgbClr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4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119396" y="4250382"/>
            <a:ext cx="676275" cy="676275"/>
          </a:xfrm>
          <a:prstGeom prst="ellipse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11909971" y="4459932"/>
            <a:ext cx="5460755" cy="26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3600"/>
              </a:lnSpc>
              <a:buNone/>
            </a:pPr>
            <a:r>
              <a:rPr lang="en-US" sz="1350" dirty="0">
                <a:solidFill>
                  <a:srgbClr val="25333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Support ticket system export</a:t>
            </a:r>
            <a:endParaRPr lang="en-US" sz="1350" dirty="0"/>
          </a:p>
        </p:txBody>
      </p:sp>
      <p:sp>
        <p:nvSpPr>
          <p:cNvPr id="45" name="Shape 37"/>
          <p:cNvSpPr/>
          <p:nvPr/>
        </p:nvSpPr>
        <p:spPr>
          <a:xfrm>
            <a:off x="11119396" y="5079057"/>
            <a:ext cx="676275" cy="676275"/>
          </a:xfrm>
          <a:prstGeom prst="ellipse">
            <a:avLst/>
          </a:prstGeom>
          <a:solidFill>
            <a:srgbClr val="7462A6">
              <a:alpha val="20000"/>
            </a:srgbClr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4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119396" y="5079057"/>
            <a:ext cx="676275" cy="676275"/>
          </a:xfrm>
          <a:prstGeom prst="ellipse">
            <a:avLst/>
          </a:prstGeom>
        </p:spPr>
      </p:pic>
      <p:sp>
        <p:nvSpPr>
          <p:cNvPr id="47" name="Text 38"/>
          <p:cNvSpPr/>
          <p:nvPr/>
        </p:nvSpPr>
        <p:spPr>
          <a:xfrm>
            <a:off x="11909971" y="5288607"/>
            <a:ext cx="5460755" cy="26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3600"/>
              </a:lnSpc>
              <a:buNone/>
            </a:pPr>
            <a:r>
              <a:rPr lang="en-US" sz="1350" dirty="0">
                <a:solidFill>
                  <a:srgbClr val="25333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CSM meeting notes and QBR intake form</a:t>
            </a:r>
            <a:endParaRPr lang="en-US" sz="1350" dirty="0"/>
          </a:p>
        </p:txBody>
      </p:sp>
      <p:sp>
        <p:nvSpPr>
          <p:cNvPr id="48" name="Shape 39"/>
          <p:cNvSpPr/>
          <p:nvPr/>
        </p:nvSpPr>
        <p:spPr>
          <a:xfrm>
            <a:off x="11119396" y="5907732"/>
            <a:ext cx="676275" cy="676275"/>
          </a:xfrm>
          <a:prstGeom prst="ellipse">
            <a:avLst/>
          </a:prstGeom>
          <a:solidFill>
            <a:srgbClr val="007F83">
              <a:alpha val="18000"/>
            </a:srgbClr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4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19396" y="5907732"/>
            <a:ext cx="676275" cy="676275"/>
          </a:xfrm>
          <a:prstGeom prst="ellipse">
            <a:avLst/>
          </a:prstGeom>
        </p:spPr>
      </p:pic>
      <p:sp>
        <p:nvSpPr>
          <p:cNvPr id="50" name="Text 40"/>
          <p:cNvSpPr/>
          <p:nvPr/>
        </p:nvSpPr>
        <p:spPr>
          <a:xfrm>
            <a:off x="11909971" y="6117282"/>
            <a:ext cx="5460755" cy="26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3600"/>
              </a:lnSpc>
              <a:buNone/>
            </a:pPr>
            <a:r>
              <a:rPr lang="en-US" sz="1350" dirty="0">
                <a:solidFill>
                  <a:srgbClr val="25333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Renewal &amp; expansion pipeline (CRM)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1356</Words>
  <Application>Microsoft Office PowerPoint</Application>
  <PresentationFormat>Benutzerdefiniert</PresentationFormat>
  <Paragraphs>266</Paragraphs>
  <Slides>10</Slides>
  <Notes>10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10</vt:i4>
      </vt:variant>
    </vt:vector>
  </HeadingPairs>
  <TitlesOfParts>
    <vt:vector size="14" baseType="lpstr">
      <vt:lpstr>Arial</vt:lpstr>
      <vt:lpstr>Manrope</vt:lpstr>
      <vt:lpstr>Source Sans 3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Claudia Liersch</cp:lastModifiedBy>
  <cp:revision>1</cp:revision>
  <dcterms:created xsi:type="dcterms:W3CDTF">2026-08-18T19:10:05Z</dcterms:created>
  <dcterms:modified xsi:type="dcterms:W3CDTF">2026-08-18T19:10:47Z</dcterms:modified>
</cp:coreProperties>
</file>